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6c8b8b29cb704ab8" /><Relationship Type="http://schemas.openxmlformats.org/officeDocument/2006/relationships/extended-properties" Target="/docProps/app.xml" Id="R5d4760f2df8846cd" /><Relationship Type="http://schemas.openxmlformats.org/officeDocument/2006/relationships/officeDocument" Target="/ppt/presentation.xml" Id="R4f1a02b05c34480b" /></Relationships>
</file>

<file path=ppt/presentation.xml><?xml version="1.0" encoding="utf-8"?>
<p:presentation xmlns:p="http://schemas.openxmlformats.org/presentationml/2006/main">
  <p:sldMasterIdLst>
    <p:sldMasterId xmlns:r="http://schemas.openxmlformats.org/officeDocument/2006/relationships" id="2147483648" r:id="R0fd2dee43d494868"/>
  </p:sldMasterIdLst>
  <p:notesMasterIdLst>
    <p:notesMasterId xmlns:r="http://schemas.openxmlformats.org/officeDocument/2006/relationships" r:id="R895b6ad366e34e52"/>
  </p:notesMasterIdLst>
  <p:sldIdLst>
    <p:sldId xmlns:r="http://schemas.openxmlformats.org/officeDocument/2006/relationships" id="256" r:id="R55dc8fb7dd614c0f"/>
    <p:sldId xmlns:r="http://schemas.openxmlformats.org/officeDocument/2006/relationships" id="257" r:id="R88f267c445194d20"/>
    <p:sldId xmlns:r="http://schemas.openxmlformats.org/officeDocument/2006/relationships" id="258" r:id="R80f51def6ca84472"/>
    <p:sldId xmlns:r="http://schemas.openxmlformats.org/officeDocument/2006/relationships" id="259" r:id="R34ebd42df50c48ee"/>
    <p:sldId xmlns:r="http://schemas.openxmlformats.org/officeDocument/2006/relationships" id="260" r:id="R824c1fd6588e40c4"/>
    <p:sldId xmlns:r="http://schemas.openxmlformats.org/officeDocument/2006/relationships" id="261" r:id="R7493490c20654d5c"/>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2241247a22774919" /><Relationship Type="http://schemas.openxmlformats.org/officeDocument/2006/relationships/slideMaster" Target="/ppt/slideMasters/slideMaster1.xml" Id="R0fd2dee43d494868" /><Relationship Type="http://schemas.openxmlformats.org/officeDocument/2006/relationships/notesMaster" Target="/ppt/notesMasters/notesMaster1.xml" Id="R895b6ad366e34e52" /><Relationship Type="http://schemas.openxmlformats.org/officeDocument/2006/relationships/presProps" Target="/ppt/presProps.xml" Id="Rbfa4c0c0998049bb" /><Relationship Type="http://schemas.openxmlformats.org/officeDocument/2006/relationships/tableStyles" Target="/ppt/tableStyles.xml" Id="R1f1511d560e74d07" /><Relationship Type="http://schemas.openxmlformats.org/officeDocument/2006/relationships/slide" Target="/ppt/slides/slide1.xml" Id="R55dc8fb7dd614c0f" /><Relationship Type="http://schemas.openxmlformats.org/officeDocument/2006/relationships/slide" Target="/ppt/slides/slide2.xml" Id="R88f267c445194d20" /><Relationship Type="http://schemas.openxmlformats.org/officeDocument/2006/relationships/slide" Target="/ppt/slides/slide3.xml" Id="R80f51def6ca84472" /><Relationship Type="http://schemas.openxmlformats.org/officeDocument/2006/relationships/slide" Target="/ppt/slides/slide4.xml" Id="R34ebd42df50c48ee" /><Relationship Type="http://schemas.openxmlformats.org/officeDocument/2006/relationships/slide" Target="/ppt/slides/slide5.xml" Id="R824c1fd6588e40c4" /><Relationship Type="http://schemas.openxmlformats.org/officeDocument/2006/relationships/slide" Target="/ppt/slides/slide6.xml" Id="R7493490c20654d5c"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1ce6bee45c2a4f5a"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59b627597bfb4ef0" /><Relationship Type="http://schemas.openxmlformats.org/officeDocument/2006/relationships/notesMaster" Target="/ppt/notesMasters/notesMaster1.xml" Id="R8baf29731dc84f6a" /></Relationships>
</file>

<file path=ppt/notesSlides/_rels/notesSlide2.xml.rels>&#65279;<?xml version="1.0" encoding="utf-8"?><Relationships xmlns="http://schemas.openxmlformats.org/package/2006/relationships"><Relationship Type="http://schemas.openxmlformats.org/officeDocument/2006/relationships/slide" Target="/ppt/slides/slide2.xml" Id="Rf1e107007cb84078" /><Relationship Type="http://schemas.openxmlformats.org/officeDocument/2006/relationships/notesMaster" Target="/ppt/notesMasters/notesMaster1.xml" Id="Rc857547cd2be48b3" /></Relationships>
</file>

<file path=ppt/notesSlides/_rels/notesSlide3.xml.rels>&#65279;<?xml version="1.0" encoding="utf-8"?><Relationships xmlns="http://schemas.openxmlformats.org/package/2006/relationships"><Relationship Type="http://schemas.openxmlformats.org/officeDocument/2006/relationships/slide" Target="/ppt/slides/slide3.xml" Id="R62f310325a454be6" /><Relationship Type="http://schemas.openxmlformats.org/officeDocument/2006/relationships/notesMaster" Target="/ppt/notesMasters/notesMaster1.xml" Id="R91eb86f07df04063" /></Relationships>
</file>

<file path=ppt/notesSlides/_rels/notesSlide4.xml.rels>&#65279;<?xml version="1.0" encoding="utf-8"?><Relationships xmlns="http://schemas.openxmlformats.org/package/2006/relationships"><Relationship Type="http://schemas.openxmlformats.org/officeDocument/2006/relationships/slide" Target="/ppt/slides/slide4.xml" Id="R88623428dd5b45c0" /><Relationship Type="http://schemas.openxmlformats.org/officeDocument/2006/relationships/notesMaster" Target="/ppt/notesMasters/notesMaster1.xml" Id="R7203ff2499bc4d34" /></Relationships>
</file>

<file path=ppt/notesSlides/_rels/notesSlide5.xml.rels>&#65279;<?xml version="1.0" encoding="utf-8"?><Relationships xmlns="http://schemas.openxmlformats.org/package/2006/relationships"><Relationship Type="http://schemas.openxmlformats.org/officeDocument/2006/relationships/slide" Target="/ppt/slides/slide5.xml" Id="R85cbf893bb8648f5" /><Relationship Type="http://schemas.openxmlformats.org/officeDocument/2006/relationships/notesMaster" Target="/ppt/notesMasters/notesMaster1.xml" Id="Re096e9dd826344af" /></Relationships>
</file>

<file path=ppt/notesSlides/_rels/notesSlide6.xml.rels>&#65279;<?xml version="1.0" encoding="utf-8"?><Relationships xmlns="http://schemas.openxmlformats.org/package/2006/relationships"><Relationship Type="http://schemas.openxmlformats.org/officeDocument/2006/relationships/slide" Target="/ppt/slides/slide6.xml" Id="R40e6a8194bd44d2c" /><Relationship Type="http://schemas.openxmlformats.org/officeDocument/2006/relationships/notesMaster" Target="/ppt/notesMasters/notesMaster1.xml" Id="Raaee50292ba042d2"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10 ثوانٍ. فيورا منصة عربية تجمع منتجات الأزياء والمتاجر المحلية في مكان واحد. سنعرض المشكلة، الحل، نموذج الاستدامة، ما أنجزناه، وخطوتنا القادمة.</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25 ثانية. كثير من المتاجر المحلية تعرض منتجاتها عبر قنوات متفرقة. المشتري ينتقل بين الحسابات والرسائل، ويصعب عليه المقارنة والطلب ومتابعة ما طلبه. وفي المقابل، يحتاج المتجر قناة منظمة تصل إلى عملاء جدد وتوضح حالة الطلب.</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35 ثانية. فيورا تقدم رحلة واحدة: المستخدم يكتشف، يختار، يطلب ثم يتابع. جمعنا البحث والفلترة والمفضلة والسلة والعناوين والطلبات والإشعارات في تجربة عربية متناسقة. ويستفيد المتجر من واجهة منظمة لعرض المنتجات وإدارة حالة الطلب.</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55 ثانية. نستهدف جهتين: المتسوق الذي يريد اكتشاف منتجات الأزياء المحلية وطلبها بوضوح، وصاحب المتجر الذي يريد قناة رقمية منظمة. نموذج الدخل المقترح يبدأ بعمولة على الطلبات المكتملة، ثم ظهور مميز للمتاجر، ومع نمو الاستخدام يمكن إضافة خدمات تساعد المتاجر في الإدارة وفهم الأداء. هذه مسارات مقترحة وليست إيرادات محققة بعد.</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55 ثانية. أنجزنا واجهة عميل مبنية بـ Next.js ومتصلة بواجهات API. جهزنا تجربة عربية متجاوبة، ثم قوائم المنتجات والمتاجر مع البحث والفلترة والتصنيفات. أضفنا رحلة المستخدم من الدخول والمفضلة والسلة والعنوان حتى الطلب عند الاستلام. كما جهزنا الملف الشخصي وسجل الطلبات وتفاصيل كل طلب والإشعارات.</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25 ثانية. الخطوة التالية هي إطلاق تجريبي مع مجموعة مختارة من المتاجر، ثم قياس تجربة الشراء وتحسين إدارة الطلب والتوصيل بناءً على الاستخدام الحقيقي. بعد ذلك نتوسع تدريجيًا في المتاجر والتصنيفات والشراكات. رؤيتنا أن تصبح فيورا نقطة بداية موثوقة للتسوق من المتاجر المحلية.</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139827e100b940bf"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ffa67237e3104728" /><Relationship Type="http://schemas.openxmlformats.org/officeDocument/2006/relationships/slideLayout" Target="/ppt/slideLayouts/slideLayout1.xml" Id="Ra3ebb8a9988c4dc8"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a3ebb8a9988c4dc8"/>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ca6412d4a85945a5" /><Relationship Type="http://schemas.openxmlformats.org/officeDocument/2006/relationships/image" Target="/ppt/media/image.png" Id="Rfe0a71c46bd3442f" /><Relationship Type="http://schemas.openxmlformats.org/officeDocument/2006/relationships/notesSlide" Target="/ppt/notesSlides/notesSlide1.xml" Id="R953bc9f18e15420a"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418aad9a37634312" /><Relationship Type="http://schemas.openxmlformats.org/officeDocument/2006/relationships/notesSlide" Target="/ppt/notesSlides/notesSlide2.xml" Id="Rcf9be1ac29834d0b"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c3585ad2797647d6" /><Relationship Type="http://schemas.openxmlformats.org/officeDocument/2006/relationships/notesSlide" Target="/ppt/notesSlides/notesSlide3.xml" Id="R7c83b0fd16d04e23"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2b981b9a1b404df3" /><Relationship Type="http://schemas.openxmlformats.org/officeDocument/2006/relationships/notesSlide" Target="/ppt/notesSlides/notesSlide4.xml" Id="R9713d6cf44dc4a54"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591b74ca548a44f6" /><Relationship Type="http://schemas.openxmlformats.org/officeDocument/2006/relationships/notesSlide" Target="/ppt/notesSlides/notesSlide5.xml" Id="R8c24658593a34320"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79c7682e68b44a98" /><Relationship Type="http://schemas.openxmlformats.org/officeDocument/2006/relationships/notesSlide" Target="/ppt/notesSlides/notesSlide6.xml" Id="R66548e936a354b33" /></Relationships>
</file>

<file path=ppt/slides/slide1.xml><?xml version="1.0" encoding="utf-8"?>
<p:sld xmlns:p="http://schemas.openxmlformats.org/presentationml/2006/main">
  <p:cSld>
    <p:bg>
      <p:bgPr>
        <a:solidFill xmlns:a="http://schemas.openxmlformats.org/drawingml/2006/main">
          <a:srgbClr val="4D0B17"/>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2ADEBFB1-19C5-48A0-A613-BB4A75622ADF}"/>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4D0B17"/>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20B2FE81-FF5B-49BC-9277-31F254A0CA57}"/>
              </a:ext>
            </a:extLst>
          </p:cNvPr>
          <p:cNvSpPr>
            <a:spLocks xmlns:a="http://schemas.openxmlformats.org/drawingml/2006/main" noGrp="1"/>
          </p:cNvSpPr>
          <p:nvPr/>
        </p:nvSpPr>
        <p:spPr>
          <a:xfrm xmlns:a="http://schemas.openxmlformats.org/drawingml/2006/main">
            <a:off x="0" y="0"/>
            <a:ext cx="4095750" cy="6858000"/>
          </a:xfrm>
          <a:prstGeom xmlns:a="http://schemas.openxmlformats.org/drawingml/2006/main" prst="rect">
            <a:avLst/>
          </a:prstGeom>
          <a:solidFill xmlns:a="http://schemas.openxmlformats.org/drawingml/2006/main">
            <a:srgbClr val="7E182A"/>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BA2AFB52-5A2A-48DB-97F0-A3633BA98BD1}"/>
              </a:ext>
            </a:extLst>
          </p:cNvPr>
          <p:cNvSpPr>
            <a:spLocks xmlns:a="http://schemas.openxmlformats.org/drawingml/2006/main" noGrp="1"/>
          </p:cNvSpPr>
          <p:nvPr/>
        </p:nvSpPr>
        <p:spPr>
          <a:xfrm xmlns:a="http://schemas.openxmlformats.org/drawingml/2006/main">
            <a:off x="628650" y="952500"/>
            <a:ext cx="38100" cy="3048000"/>
          </a:xfrm>
          <a:prstGeom xmlns:a="http://schemas.openxmlformats.org/drawingml/2006/main" prst="rect">
            <a:avLst/>
          </a:prstGeom>
          <a:solidFill xmlns:a="http://schemas.openxmlformats.org/drawingml/2006/main">
            <a:srgbClr val="D6A5A7"/>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306D9273-F4F6-4C17-8D5A-A15388A35E5C}"/>
              </a:ext>
            </a:extLst>
          </p:cNvPr>
          <p:cNvSpPr>
            <a:spLocks xmlns:a="http://schemas.openxmlformats.org/drawingml/2006/main" noGrp="1"/>
          </p:cNvSpPr>
          <p:nvPr/>
        </p:nvSpPr>
        <p:spPr>
          <a:xfrm xmlns:a="http://schemas.openxmlformats.org/drawingml/2006/main">
            <a:off x="990600" y="1333500"/>
            <a:ext cx="2114550" cy="2333625"/>
          </a:xfrm>
          <a:prstGeom xmlns:a="http://schemas.openxmlformats.org/drawingml/2006/main" prst="roundRect">
            <a:avLst>
              <a:gd name="adj" fmla="val 10811"/>
            </a:avLst>
          </a:prstGeom>
          <a:solidFill xmlns:a="http://schemas.openxmlformats.org/drawingml/2006/main">
            <a:srgbClr val="FBF8F3"/>
          </a:solidFill>
          <a:ln xmlns:a="http://schemas.openxmlformats.org/drawingml/2006/main" w="0">
            <a:noFill/>
          </a:ln>
        </p:spPr>
      </p:sp>
      <p:pic>
        <p:nvPicPr>
          <p:cNvPr id="17" name=""/>
          <p:cNvPicPr>
            <a:picLocks xmlns:a="http://schemas.openxmlformats.org/drawingml/2006/main" noChangeAspect="1"/>
          </p:cNvPicPr>
          <p:nvPr/>
        </p:nvPicPr>
        <p:blipFill>
          <a:blip xmlns:r="http://schemas.openxmlformats.org/officeDocument/2006/relationships" xmlns:a="http://schemas.openxmlformats.org/drawingml/2006/main" r:embed="Rfe0a71c46bd3442f"/>
          <a:stretch xmlns:a="http://schemas.openxmlformats.org/drawingml/2006/main"/>
        </p:blipFill>
        <p:spPr>
          <a:xfrm xmlns:a="http://schemas.openxmlformats.org/drawingml/2006/main">
            <a:off x="1219200" y="1763233"/>
            <a:ext cx="1657350" cy="1464635"/>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71E059B0-2101-4CB3-B8E1-43B909C10F0B}"/>
              </a:ext>
            </a:extLst>
          </p:cNvPr>
          <p:cNvSpPr>
            <a:spLocks xmlns:a="http://schemas.openxmlformats.org/drawingml/2006/main" noGrp="1"/>
          </p:cNvSpPr>
          <p:nvPr/>
        </p:nvSpPr>
        <p:spPr>
          <a:xfrm xmlns:a="http://schemas.openxmlformats.org/drawingml/2006/main">
            <a:off x="4953000" y="1619250"/>
            <a:ext cx="58102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7312"/>
          </a:bodyPr>
          <a:lstStyle xmlns:a="http://schemas.openxmlformats.org/drawingml/2006/main"/>
          <a:p xmlns:a="http://schemas.openxmlformats.org/drawingml/2006/main">
            <a:pPr algn="r">
              <a:defRPr sz="4650" b="1">
                <a:solidFill>
                  <a:srgbClr val="FFFFFF"/>
                </a:solidFill>
                <a:latin typeface="Arial"/>
                <a:ea typeface="Arial"/>
                <a:cs typeface="Arial"/>
              </a:defRPr>
            </a:pPr>
            <a:r>
              <a:rPr sz="4650" b="1">
                <a:solidFill>
                  <a:srgbClr val="FFFFFF"/>
                </a:solidFill>
                <a:latin typeface="Arial"/>
                <a:ea typeface="Arial"/>
                <a:cs typeface="Arial"/>
              </a:rPr>
              <a:t>فيورا</a:t>
            </a:r>
          </a:p>
        </p:txBody>
      </p:sp>
      <p:sp>
        <p:nvSpPr>
          <p:cNvPr id="7" name="">
            <a:extLst xmlns:a="http://schemas.openxmlformats.org/drawingml/2006/main">
              <a:ext uri="{FF2B5EF4-FFF2-40B4-BE49-F238E27FC236}">
                <a16:creationId xmlns:a16="http://schemas.microsoft.com/office/drawing/2014/main" id="{6E7B9250-F88D-4FBE-BDBC-C93F2F5D0B50}"/>
              </a:ext>
            </a:extLst>
          </p:cNvPr>
          <p:cNvSpPr>
            <a:spLocks xmlns:a="http://schemas.openxmlformats.org/drawingml/2006/main" noGrp="1"/>
          </p:cNvSpPr>
          <p:nvPr/>
        </p:nvSpPr>
        <p:spPr>
          <a:xfrm xmlns:a="http://schemas.openxmlformats.org/drawingml/2006/main">
            <a:off x="4953000" y="2571750"/>
            <a:ext cx="58102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r">
              <a:defRPr sz="2325" b="0">
                <a:solidFill>
                  <a:srgbClr val="F6E9E4"/>
                </a:solidFill>
                <a:latin typeface="Arial"/>
                <a:ea typeface="Arial"/>
                <a:cs typeface="Arial"/>
              </a:defRPr>
            </a:pPr>
            <a:r>
              <a:rPr sz="2325" b="0">
                <a:solidFill>
                  <a:srgbClr val="F6E9E4"/>
                </a:solidFill>
                <a:latin typeface="Arial"/>
                <a:ea typeface="Arial"/>
                <a:cs typeface="Arial"/>
              </a:rPr>
              <a:t>منصة موحّدة لاكتشاف وشراء الأزياء</a:t>
            </a:r>
          </a:p>
          <a:p xmlns:a="http://schemas.openxmlformats.org/drawingml/2006/main">
            <a:pPr algn="r">
              <a:defRPr sz="2325" b="0">
                <a:solidFill>
                  <a:srgbClr val="F6E9E4"/>
                </a:solidFill>
                <a:latin typeface="Arial"/>
                <a:ea typeface="Arial"/>
                <a:cs typeface="Arial"/>
              </a:defRPr>
            </a:pPr>
            <a:r>
              <a:rPr sz="2325" b="0">
                <a:solidFill>
                  <a:srgbClr val="F6E9E4"/>
                </a:solidFill>
                <a:latin typeface="Arial"/>
                <a:ea typeface="Arial"/>
                <a:cs typeface="Arial"/>
              </a:rPr>
              <a:t>من المتاجر المحلية</a:t>
            </a:r>
          </a:p>
        </p:txBody>
      </p:sp>
      <p:sp>
        <p:nvSpPr>
          <p:cNvPr id="8" name="">
            <a:extLst xmlns:a="http://schemas.openxmlformats.org/drawingml/2006/main">
              <a:ext uri="{FF2B5EF4-FFF2-40B4-BE49-F238E27FC236}">
                <a16:creationId xmlns:a16="http://schemas.microsoft.com/office/drawing/2014/main" id="{E235EE8B-5E35-4E6E-9C96-4C3DDF299A06}"/>
              </a:ext>
            </a:extLst>
          </p:cNvPr>
          <p:cNvSpPr>
            <a:spLocks xmlns:a="http://schemas.openxmlformats.org/drawingml/2006/main" noGrp="1"/>
          </p:cNvSpPr>
          <p:nvPr/>
        </p:nvSpPr>
        <p:spPr>
          <a:xfrm xmlns:a="http://schemas.openxmlformats.org/drawingml/2006/main">
            <a:off x="4953000" y="4095750"/>
            <a:ext cx="3429000" cy="0"/>
          </a:xfrm>
          <a:prstGeom xmlns:a="http://schemas.openxmlformats.org/drawingml/2006/main" prst="line">
            <a:avLst/>
          </a:prstGeom>
          <a:noFill xmlns:a="http://schemas.openxmlformats.org/drawingml/2006/main"/>
          <a:ln xmlns:a="http://schemas.openxmlformats.org/drawingml/2006/main" w="9525">
            <a:solidFill>
              <a:srgbClr val="B95B66"/>
            </a:solidFill>
            <a:prstDash val="solid"/>
          </a:ln>
        </p:spPr>
      </p:sp>
      <p:sp>
        <p:nvSpPr>
          <p:cNvPr id="9" name="">
            <a:extLst xmlns:a="http://schemas.openxmlformats.org/drawingml/2006/main">
              <a:ext uri="{FF2B5EF4-FFF2-40B4-BE49-F238E27FC236}">
                <a16:creationId xmlns:a16="http://schemas.microsoft.com/office/drawing/2014/main" id="{FC53ECB9-6123-422A-92C6-5C7DEDC124DC}"/>
              </a:ext>
            </a:extLst>
          </p:cNvPr>
          <p:cNvSpPr>
            <a:spLocks xmlns:a="http://schemas.openxmlformats.org/drawingml/2006/main" noGrp="1"/>
          </p:cNvSpPr>
          <p:nvPr/>
        </p:nvSpPr>
        <p:spPr>
          <a:xfrm xmlns:a="http://schemas.openxmlformats.org/drawingml/2006/main">
            <a:off x="4953000" y="4324350"/>
            <a:ext cx="3714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r">
              <a:defRPr sz="1425" b="0">
                <a:solidFill>
                  <a:srgbClr val="E5C9C8"/>
                </a:solidFill>
                <a:latin typeface="Arial"/>
                <a:ea typeface="Arial"/>
                <a:cs typeface="Arial"/>
              </a:defRPr>
            </a:pPr>
            <a:r>
              <a:rPr sz="1425" b="0">
                <a:solidFill>
                  <a:srgbClr val="E5C9C8"/>
                </a:solidFill>
                <a:latin typeface="Arial"/>
                <a:ea typeface="Arial"/>
                <a:cs typeface="Arial"/>
              </a:rPr>
              <a:t>عرض فكرة المشروع  |  3–4 دقائق</a:t>
            </a:r>
          </a:p>
        </p:txBody>
      </p:sp>
      <p:sp>
        <p:nvSpPr>
          <p:cNvPr id="10" name="">
            <a:extLst xmlns:a="http://schemas.openxmlformats.org/drawingml/2006/main">
              <a:ext uri="{FF2B5EF4-FFF2-40B4-BE49-F238E27FC236}">
                <a16:creationId xmlns:a16="http://schemas.microsoft.com/office/drawing/2014/main" id="{43A0F31C-57BC-4309-9516-425F58609F8F}"/>
              </a:ext>
            </a:extLst>
          </p:cNvPr>
          <p:cNvSpPr>
            <a:spLocks xmlns:a="http://schemas.openxmlformats.org/drawingml/2006/main" noGrp="1"/>
          </p:cNvSpPr>
          <p:nvPr/>
        </p:nvSpPr>
        <p:spPr>
          <a:xfrm xmlns:a="http://schemas.openxmlformats.org/drawingml/2006/main">
            <a:off x="4953000" y="5286375"/>
            <a:ext cx="5810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r">
              <a:defRPr sz="1575" b="1">
                <a:solidFill>
                  <a:srgbClr val="F3D8D5"/>
                </a:solidFill>
                <a:latin typeface="Arial"/>
                <a:ea typeface="Arial"/>
                <a:cs typeface="Arial"/>
              </a:defRPr>
            </a:pPr>
            <a:r>
              <a:rPr sz="1575" b="1">
                <a:solidFill>
                  <a:srgbClr val="F3D8D5"/>
                </a:solidFill>
                <a:latin typeface="Arial"/>
                <a:ea typeface="Arial"/>
                <a:cs typeface="Arial"/>
              </a:rPr>
              <a:t>من تجربة متاجر متفرّقة إلى رحلة شراء واضحة</a:t>
            </a:r>
          </a:p>
        </p:txBody>
      </p:sp>
      <p:sp>
        <p:nvSpPr>
          <p:cNvPr id="11" name="">
            <a:extLst xmlns:a="http://schemas.openxmlformats.org/drawingml/2006/main">
              <a:ext uri="{FF2B5EF4-FFF2-40B4-BE49-F238E27FC236}">
                <a16:creationId xmlns:a16="http://schemas.microsoft.com/office/drawing/2014/main" id="{6E38F0B7-5A79-4E92-B230-5EE0012B69FC}"/>
              </a:ext>
            </a:extLst>
          </p:cNvPr>
          <p:cNvSpPr>
            <a:spLocks xmlns:a="http://schemas.openxmlformats.org/drawingml/2006/main" noGrp="1"/>
          </p:cNvSpPr>
          <p:nvPr/>
        </p:nvSpPr>
        <p:spPr>
          <a:xfrm xmlns:a="http://schemas.openxmlformats.org/drawingml/2006/main">
            <a:off x="685800" y="6381750"/>
            <a:ext cx="1143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5000"/>
          </a:bodyPr>
          <a:lstStyle xmlns:a="http://schemas.openxmlformats.org/drawingml/2006/main"/>
          <a:p xmlns:a="http://schemas.openxmlformats.org/drawingml/2006/main">
            <a:pPr algn="l">
              <a:defRPr sz="1200" b="1">
                <a:solidFill>
                  <a:srgbClr val="EED9D4"/>
                </a:solidFill>
                <a:latin typeface="Arial"/>
                <a:ea typeface="Arial"/>
                <a:cs typeface="Arial"/>
              </a:defRPr>
            </a:pPr>
            <a:r>
              <a:rPr sz="1200" b="1">
                <a:solidFill>
                  <a:srgbClr val="EED9D4"/>
                </a:solidFill>
                <a:latin typeface="Arial"/>
                <a:ea typeface="Arial"/>
                <a:cs typeface="Arial"/>
              </a:rPr>
              <a:t>VIORA</a:t>
            </a:r>
          </a:p>
        </p:txBody>
      </p:sp>
      <p:sp>
        <p:nvSpPr>
          <p:cNvPr id="12" name="">
            <a:extLst xmlns:a="http://schemas.openxmlformats.org/drawingml/2006/main">
              <a:ext uri="{FF2B5EF4-FFF2-40B4-BE49-F238E27FC236}">
                <a16:creationId xmlns:a16="http://schemas.microsoft.com/office/drawing/2014/main" id="{DCC0CB98-6373-49F4-A34B-9A62F9CD2052}"/>
              </a:ext>
            </a:extLst>
          </p:cNvPr>
          <p:cNvSpPr>
            <a:spLocks xmlns:a="http://schemas.openxmlformats.org/drawingml/2006/main" noGrp="1"/>
          </p:cNvSpPr>
          <p:nvPr/>
        </p:nvSpPr>
        <p:spPr>
          <a:xfrm xmlns:a="http://schemas.openxmlformats.org/drawingml/2006/main">
            <a:off x="10610850" y="6381750"/>
            <a:ext cx="8953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0000"/>
          </a:bodyPr>
          <a:lstStyle xmlns:a="http://schemas.openxmlformats.org/drawingml/2006/main"/>
          <a:p xmlns:a="http://schemas.openxmlformats.org/drawingml/2006/main">
            <a:pPr algn="r">
              <a:defRPr sz="1125" b="0">
                <a:solidFill>
                  <a:srgbClr val="EED9D4"/>
                </a:solidFill>
                <a:latin typeface="Arial"/>
                <a:ea typeface="Arial"/>
                <a:cs typeface="Arial"/>
              </a:defRPr>
            </a:pPr>
            <a:r>
              <a:rPr sz="1125" b="0">
                <a:solidFill>
                  <a:srgbClr val="EED9D4"/>
                </a:solidFill>
                <a:latin typeface="Arial"/>
                <a:ea typeface="Arial"/>
                <a:cs typeface="Arial"/>
              </a:rPr>
              <a:t>01</a:t>
            </a:r>
          </a:p>
        </p:txBody>
      </p:sp>
    </p:spTree>
    <p:extLst>
      <p:ext uri="{BB962C8B-B14F-4D97-AF65-F5344CB8AC3E}">
        <p14:creationId xmlns:p14="http://schemas.microsoft.com/office/powerpoint/2010/main" val="1475149043"/>
      </p:ext>
    </p:extLst>
  </p:cSld>
</p:sld>
</file>

<file path=ppt/slides/slide2.xml><?xml version="1.0" encoding="utf-8"?>
<p:sld xmlns:p="http://schemas.openxmlformats.org/presentationml/2006/main">
  <p:cSld>
    <p:bg>
      <p:bgPr>
        <a:solidFill xmlns:a="http://schemas.openxmlformats.org/drawingml/2006/main">
          <a:srgbClr val="FBF8F3"/>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860BB107-941A-4A90-8747-9B16C07C1C66}"/>
              </a:ext>
            </a:extLst>
          </p:cNvPr>
          <p:cNvSpPr>
            <a:spLocks xmlns:a="http://schemas.openxmlformats.org/drawingml/2006/main" noGrp="1"/>
          </p:cNvSpPr>
          <p:nvPr/>
        </p:nvSpPr>
        <p:spPr>
          <a:xfrm xmlns:a="http://schemas.openxmlformats.org/drawingml/2006/main">
            <a:off x="800100" y="552450"/>
            <a:ext cx="104775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2063"/>
          </a:bodyPr>
          <a:lstStyle xmlns:a="http://schemas.openxmlformats.org/drawingml/2006/main"/>
          <a:p xmlns:a="http://schemas.openxmlformats.org/drawingml/2006/main">
            <a:pPr algn="r">
              <a:defRPr sz="3150" b="1">
                <a:solidFill>
                  <a:srgbClr val="231A18"/>
                </a:solidFill>
                <a:latin typeface="Arial"/>
                <a:ea typeface="Arial"/>
                <a:cs typeface="Arial"/>
              </a:defRPr>
            </a:pPr>
            <a:r>
              <a:rPr sz="3150" b="1">
                <a:solidFill>
                  <a:srgbClr val="231A18"/>
                </a:solidFill>
                <a:latin typeface="Arial"/>
                <a:ea typeface="Arial"/>
                <a:cs typeface="Arial"/>
              </a:rPr>
              <a:t>المشكلة</a:t>
            </a:r>
          </a:p>
        </p:txBody>
      </p:sp>
      <p:sp>
        <p:nvSpPr>
          <p:cNvPr id="2" name="">
            <a:extLst xmlns:a="http://schemas.openxmlformats.org/drawingml/2006/main">
              <a:ext uri="{FF2B5EF4-FFF2-40B4-BE49-F238E27FC236}">
                <a16:creationId xmlns:a16="http://schemas.microsoft.com/office/drawing/2014/main" id="{A4475349-4720-4187-98A6-76C60E03EDD4}"/>
              </a:ext>
            </a:extLst>
          </p:cNvPr>
          <p:cNvSpPr>
            <a:spLocks xmlns:a="http://schemas.openxmlformats.org/drawingml/2006/main" noGrp="1"/>
          </p:cNvSpPr>
          <p:nvPr/>
        </p:nvSpPr>
        <p:spPr>
          <a:xfrm xmlns:a="http://schemas.openxmlformats.org/drawingml/2006/main">
            <a:off x="800100" y="1257300"/>
            <a:ext cx="10096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r">
              <a:defRPr sz="1875" b="0">
                <a:solidFill>
                  <a:srgbClr val="786B65"/>
                </a:solidFill>
                <a:latin typeface="Arial"/>
                <a:ea typeface="Arial"/>
                <a:cs typeface="Arial"/>
              </a:defRPr>
            </a:pPr>
            <a:r>
              <a:rPr sz="1875" b="0">
                <a:solidFill>
                  <a:srgbClr val="786B65"/>
                </a:solidFill>
                <a:latin typeface="Arial"/>
                <a:ea typeface="Arial"/>
                <a:cs typeface="Arial"/>
              </a:rPr>
              <a:t>رحلة شراء الأزياء المحلية ما زالت موزّعة بين حسابات ورسائل متفرقة.</a:t>
            </a:r>
          </a:p>
        </p:txBody>
      </p:sp>
      <p:sp>
        <p:nvSpPr>
          <p:cNvPr id="3" name="">
            <a:extLst xmlns:a="http://schemas.openxmlformats.org/drawingml/2006/main">
              <a:ext uri="{FF2B5EF4-FFF2-40B4-BE49-F238E27FC236}">
                <a16:creationId xmlns:a16="http://schemas.microsoft.com/office/drawing/2014/main" id="{81463CE7-9364-4755-B469-0A9B544C88B3}"/>
              </a:ext>
            </a:extLst>
          </p:cNvPr>
          <p:cNvSpPr>
            <a:spLocks xmlns:a="http://schemas.openxmlformats.org/drawingml/2006/main" noGrp="1"/>
          </p:cNvSpPr>
          <p:nvPr/>
        </p:nvSpPr>
        <p:spPr>
          <a:xfrm xmlns:a="http://schemas.openxmlformats.org/drawingml/2006/main">
            <a:off x="800100" y="1952625"/>
            <a:ext cx="10591800" cy="0"/>
          </a:xfrm>
          <a:prstGeom xmlns:a="http://schemas.openxmlformats.org/drawingml/2006/main" prst="line">
            <a:avLst/>
          </a:prstGeom>
          <a:noFill xmlns:a="http://schemas.openxmlformats.org/drawingml/2006/main"/>
          <a:ln xmlns:a="http://schemas.openxmlformats.org/drawingml/2006/main" w="9525">
            <a:solidFill>
              <a:srgbClr val="E7DDD3"/>
            </a:solidFill>
            <a:prstDash val="solid"/>
          </a:ln>
        </p:spPr>
      </p:sp>
      <p:sp>
        <p:nvSpPr>
          <p:cNvPr id="4" name="">
            <a:extLst xmlns:a="http://schemas.openxmlformats.org/drawingml/2006/main">
              <a:ext uri="{FF2B5EF4-FFF2-40B4-BE49-F238E27FC236}">
                <a16:creationId xmlns:a16="http://schemas.microsoft.com/office/drawing/2014/main" id="{F428114A-E845-4984-9279-B568D44CC91F}"/>
              </a:ext>
            </a:extLst>
          </p:cNvPr>
          <p:cNvSpPr>
            <a:spLocks xmlns:a="http://schemas.openxmlformats.org/drawingml/2006/main" noGrp="1"/>
          </p:cNvSpPr>
          <p:nvPr/>
        </p:nvSpPr>
        <p:spPr>
          <a:xfrm xmlns:a="http://schemas.openxmlformats.org/drawingml/2006/main">
            <a:off x="9001125" y="2457450"/>
            <a:ext cx="2190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r">
              <a:defRPr sz="1800" b="1">
                <a:solidFill>
                  <a:srgbClr val="7E182A"/>
                </a:solidFill>
                <a:latin typeface="Arial"/>
                <a:ea typeface="Arial"/>
                <a:cs typeface="Arial"/>
              </a:defRPr>
            </a:pPr>
            <a:r>
              <a:rPr sz="1800" b="1">
                <a:solidFill>
                  <a:srgbClr val="7E182A"/>
                </a:solidFill>
                <a:latin typeface="Arial"/>
                <a:ea typeface="Arial"/>
                <a:cs typeface="Arial"/>
              </a:rPr>
              <a:t>المشتري</a:t>
            </a:r>
          </a:p>
        </p:txBody>
      </p:sp>
      <p:sp>
        <p:nvSpPr>
          <p:cNvPr id="5" name="">
            <a:extLst xmlns:a="http://schemas.openxmlformats.org/drawingml/2006/main">
              <a:ext uri="{FF2B5EF4-FFF2-40B4-BE49-F238E27FC236}">
                <a16:creationId xmlns:a16="http://schemas.microsoft.com/office/drawing/2014/main" id="{C1B7EA98-697F-41D9-A330-FEE51F62F609}"/>
              </a:ext>
            </a:extLst>
          </p:cNvPr>
          <p:cNvSpPr>
            <a:spLocks xmlns:a="http://schemas.openxmlformats.org/drawingml/2006/main" noGrp="1"/>
          </p:cNvSpPr>
          <p:nvPr/>
        </p:nvSpPr>
        <p:spPr>
          <a:xfrm xmlns:a="http://schemas.openxmlformats.org/drawingml/2006/main">
            <a:off x="7477125" y="3000375"/>
            <a:ext cx="3714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r">
              <a:defRPr sz="2025" b="0">
                <a:solidFill>
                  <a:srgbClr val="231A18"/>
                </a:solidFill>
                <a:latin typeface="Arial"/>
                <a:ea typeface="Arial"/>
                <a:cs typeface="Arial"/>
              </a:defRPr>
            </a:pPr>
            <a:r>
              <a:rPr sz="2025" b="0">
                <a:solidFill>
                  <a:srgbClr val="231A18"/>
                </a:solidFill>
                <a:latin typeface="Arial"/>
                <a:ea typeface="Arial"/>
                <a:cs typeface="Arial"/>
              </a:rPr>
              <a:t>يقارن بصعوبة بين المنتجات</a:t>
            </a:r>
          </a:p>
          <a:p xmlns:a="http://schemas.openxmlformats.org/drawingml/2006/main">
            <a:pPr algn="r">
              <a:defRPr sz="2025" b="0">
                <a:solidFill>
                  <a:srgbClr val="231A18"/>
                </a:solidFill>
                <a:latin typeface="Arial"/>
                <a:ea typeface="Arial"/>
                <a:cs typeface="Arial"/>
              </a:defRPr>
            </a:pPr>
            <a:r>
              <a:rPr sz="2025" b="0">
                <a:solidFill>
                  <a:srgbClr val="231A18"/>
                </a:solidFill>
                <a:latin typeface="Arial"/>
                <a:ea typeface="Arial"/>
                <a:cs typeface="Arial"/>
              </a:rPr>
              <a:t>ولا يملك مكانًا واضحًا للطلب والمتابعة.</a:t>
            </a:r>
          </a:p>
        </p:txBody>
      </p:sp>
      <p:sp>
        <p:nvSpPr>
          <p:cNvPr id="6" name="">
            <a:extLst xmlns:a="http://schemas.openxmlformats.org/drawingml/2006/main">
              <a:ext uri="{FF2B5EF4-FFF2-40B4-BE49-F238E27FC236}">
                <a16:creationId xmlns:a16="http://schemas.microsoft.com/office/drawing/2014/main" id="{C6AF38AE-BC60-4740-85D0-85B26E3C0C48}"/>
              </a:ext>
            </a:extLst>
          </p:cNvPr>
          <p:cNvSpPr>
            <a:spLocks xmlns:a="http://schemas.openxmlformats.org/drawingml/2006/main" noGrp="1"/>
          </p:cNvSpPr>
          <p:nvPr/>
        </p:nvSpPr>
        <p:spPr>
          <a:xfrm xmlns:a="http://schemas.openxmlformats.org/drawingml/2006/main">
            <a:off x="4905375" y="2457450"/>
            <a:ext cx="2000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r">
              <a:defRPr sz="1800" b="1">
                <a:solidFill>
                  <a:srgbClr val="7E182A"/>
                </a:solidFill>
                <a:latin typeface="Arial"/>
                <a:ea typeface="Arial"/>
                <a:cs typeface="Arial"/>
              </a:defRPr>
            </a:pPr>
            <a:r>
              <a:rPr sz="1800" b="1">
                <a:solidFill>
                  <a:srgbClr val="7E182A"/>
                </a:solidFill>
                <a:latin typeface="Arial"/>
                <a:ea typeface="Arial"/>
                <a:cs typeface="Arial"/>
              </a:rPr>
              <a:t>المتجر</a:t>
            </a:r>
          </a:p>
        </p:txBody>
      </p:sp>
      <p:sp>
        <p:nvSpPr>
          <p:cNvPr id="7" name="">
            <a:extLst xmlns:a="http://schemas.openxmlformats.org/drawingml/2006/main">
              <a:ext uri="{FF2B5EF4-FFF2-40B4-BE49-F238E27FC236}">
                <a16:creationId xmlns:a16="http://schemas.microsoft.com/office/drawing/2014/main" id="{50082678-8DE2-4FB4-A2B5-5A536377B695}"/>
              </a:ext>
            </a:extLst>
          </p:cNvPr>
          <p:cNvSpPr>
            <a:spLocks xmlns:a="http://schemas.openxmlformats.org/drawingml/2006/main" noGrp="1"/>
          </p:cNvSpPr>
          <p:nvPr/>
        </p:nvSpPr>
        <p:spPr>
          <a:xfrm xmlns:a="http://schemas.openxmlformats.org/drawingml/2006/main">
            <a:off x="3524250" y="3000375"/>
            <a:ext cx="338137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r">
              <a:defRPr sz="2025" b="0">
                <a:solidFill>
                  <a:srgbClr val="231A18"/>
                </a:solidFill>
                <a:latin typeface="Arial"/>
                <a:ea typeface="Arial"/>
                <a:cs typeface="Arial"/>
              </a:defRPr>
            </a:pPr>
            <a:r>
              <a:rPr sz="2025" b="0">
                <a:solidFill>
                  <a:srgbClr val="231A18"/>
                </a:solidFill>
                <a:latin typeface="Arial"/>
                <a:ea typeface="Arial"/>
                <a:cs typeface="Arial"/>
              </a:rPr>
              <a:t>يعرض منتجاته عبر قنوات متفرقة</a:t>
            </a:r>
          </a:p>
          <a:p xmlns:a="http://schemas.openxmlformats.org/drawingml/2006/main">
            <a:pPr algn="r">
              <a:defRPr sz="2025" b="0">
                <a:solidFill>
                  <a:srgbClr val="231A18"/>
                </a:solidFill>
                <a:latin typeface="Arial"/>
                <a:ea typeface="Arial"/>
                <a:cs typeface="Arial"/>
              </a:defRPr>
            </a:pPr>
            <a:r>
              <a:rPr sz="2025" b="0">
                <a:solidFill>
                  <a:srgbClr val="231A18"/>
                </a:solidFill>
                <a:latin typeface="Arial"/>
                <a:ea typeface="Arial"/>
                <a:cs typeface="Arial"/>
              </a:rPr>
              <a:t>ويحتاج طريقة منظمة لإدارة الطلبات.</a:t>
            </a:r>
          </a:p>
        </p:txBody>
      </p:sp>
      <p:sp>
        <p:nvSpPr>
          <p:cNvPr id="8" name="">
            <a:extLst xmlns:a="http://schemas.openxmlformats.org/drawingml/2006/main">
              <a:ext uri="{FF2B5EF4-FFF2-40B4-BE49-F238E27FC236}">
                <a16:creationId xmlns:a16="http://schemas.microsoft.com/office/drawing/2014/main" id="{445DCBA1-DA1A-4CAF-85C8-1EB7B3E2EA9A}"/>
              </a:ext>
            </a:extLst>
          </p:cNvPr>
          <p:cNvSpPr>
            <a:spLocks xmlns:a="http://schemas.openxmlformats.org/drawingml/2006/main" noGrp="1"/>
          </p:cNvSpPr>
          <p:nvPr/>
        </p:nvSpPr>
        <p:spPr>
          <a:xfrm xmlns:a="http://schemas.openxmlformats.org/drawingml/2006/main">
            <a:off x="1000125" y="2457450"/>
            <a:ext cx="1714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r">
              <a:defRPr sz="1800" b="1">
                <a:solidFill>
                  <a:srgbClr val="7E182A"/>
                </a:solidFill>
                <a:latin typeface="Arial"/>
                <a:ea typeface="Arial"/>
                <a:cs typeface="Arial"/>
              </a:defRPr>
            </a:pPr>
            <a:r>
              <a:rPr sz="1800" b="1">
                <a:solidFill>
                  <a:srgbClr val="7E182A"/>
                </a:solidFill>
                <a:latin typeface="Arial"/>
                <a:ea typeface="Arial"/>
                <a:cs typeface="Arial"/>
              </a:rPr>
              <a:t>النتيجة</a:t>
            </a:r>
          </a:p>
        </p:txBody>
      </p:sp>
      <p:sp>
        <p:nvSpPr>
          <p:cNvPr id="9" name="">
            <a:extLst xmlns:a="http://schemas.openxmlformats.org/drawingml/2006/main">
              <a:ext uri="{FF2B5EF4-FFF2-40B4-BE49-F238E27FC236}">
                <a16:creationId xmlns:a16="http://schemas.microsoft.com/office/drawing/2014/main" id="{27635FF4-3216-4100-A622-6205CFB6BA54}"/>
              </a:ext>
            </a:extLst>
          </p:cNvPr>
          <p:cNvSpPr>
            <a:spLocks xmlns:a="http://schemas.openxmlformats.org/drawingml/2006/main" noGrp="1"/>
          </p:cNvSpPr>
          <p:nvPr/>
        </p:nvSpPr>
        <p:spPr>
          <a:xfrm xmlns:a="http://schemas.openxmlformats.org/drawingml/2006/main">
            <a:off x="800100" y="3000375"/>
            <a:ext cx="2857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004"/>
          </a:bodyPr>
          <a:lstStyle xmlns:a="http://schemas.openxmlformats.org/drawingml/2006/main"/>
          <a:p xmlns:a="http://schemas.openxmlformats.org/drawingml/2006/main">
            <a:pPr algn="r">
              <a:defRPr sz="2025" b="0">
                <a:solidFill>
                  <a:srgbClr val="231A18"/>
                </a:solidFill>
                <a:latin typeface="Arial"/>
                <a:ea typeface="Arial"/>
                <a:cs typeface="Arial"/>
              </a:defRPr>
            </a:pPr>
            <a:r>
              <a:rPr sz="2025" b="0">
                <a:solidFill>
                  <a:srgbClr val="231A18"/>
                </a:solidFill>
                <a:latin typeface="Arial"/>
                <a:ea typeface="Arial"/>
                <a:cs typeface="Arial"/>
              </a:rPr>
              <a:t>تجربة أقل وضوحًا للمشتري</a:t>
            </a:r>
          </a:p>
          <a:p xmlns:a="http://schemas.openxmlformats.org/drawingml/2006/main">
            <a:pPr algn="r">
              <a:defRPr sz="2025" b="0">
                <a:solidFill>
                  <a:srgbClr val="231A18"/>
                </a:solidFill>
                <a:latin typeface="Arial"/>
                <a:ea typeface="Arial"/>
                <a:cs typeface="Arial"/>
              </a:defRPr>
            </a:pPr>
            <a:r>
              <a:rPr sz="2025" b="0">
                <a:solidFill>
                  <a:srgbClr val="231A18"/>
                </a:solidFill>
                <a:latin typeface="Arial"/>
                <a:ea typeface="Arial"/>
                <a:cs typeface="Arial"/>
              </a:rPr>
              <a:t>وفرصة وصول أضعف للمتاجر المحلية.</a:t>
            </a:r>
          </a:p>
        </p:txBody>
      </p:sp>
      <p:sp>
        <p:nvSpPr>
          <p:cNvPr id="10" name="">
            <a:extLst xmlns:a="http://schemas.openxmlformats.org/drawingml/2006/main">
              <a:ext uri="{FF2B5EF4-FFF2-40B4-BE49-F238E27FC236}">
                <a16:creationId xmlns:a16="http://schemas.microsoft.com/office/drawing/2014/main" id="{6DC7B122-8345-40EE-9224-11EFDCE14026}"/>
              </a:ext>
            </a:extLst>
          </p:cNvPr>
          <p:cNvSpPr>
            <a:spLocks xmlns:a="http://schemas.openxmlformats.org/drawingml/2006/main" noGrp="1"/>
          </p:cNvSpPr>
          <p:nvPr/>
        </p:nvSpPr>
        <p:spPr>
          <a:xfrm xmlns:a="http://schemas.openxmlformats.org/drawingml/2006/main">
            <a:off x="800100" y="4905375"/>
            <a:ext cx="10591800" cy="9525"/>
          </a:xfrm>
          <a:prstGeom xmlns:a="http://schemas.openxmlformats.org/drawingml/2006/main" prst="rect">
            <a:avLst/>
          </a:prstGeom>
          <a:solidFill xmlns:a="http://schemas.openxmlformats.org/drawingml/2006/main">
            <a:srgbClr val="E7DDD3"/>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1181A6AF-5261-47A6-8DC6-5DB208A9D29A}"/>
              </a:ext>
            </a:extLst>
          </p:cNvPr>
          <p:cNvSpPr>
            <a:spLocks xmlns:a="http://schemas.openxmlformats.org/drawingml/2006/main" noGrp="1"/>
          </p:cNvSpPr>
          <p:nvPr/>
        </p:nvSpPr>
        <p:spPr>
          <a:xfrm xmlns:a="http://schemas.openxmlformats.org/drawingml/2006/main">
            <a:off x="800100" y="5286375"/>
            <a:ext cx="105918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r">
              <a:defRPr sz="2025" b="1">
                <a:solidFill>
                  <a:srgbClr val="7E182A"/>
                </a:solidFill>
                <a:latin typeface="Arial"/>
                <a:ea typeface="Arial"/>
                <a:cs typeface="Arial"/>
              </a:defRPr>
            </a:pPr>
            <a:r>
              <a:rPr sz="2025" b="1">
                <a:solidFill>
                  <a:srgbClr val="7E182A"/>
                </a:solidFill>
                <a:latin typeface="Arial"/>
                <a:ea typeface="Arial"/>
                <a:cs typeface="Arial"/>
              </a:rPr>
              <a:t>المشكلة الحقيقية: غياب واجهة واحدة تربط الاكتشاف بالطلب ومتابعة الحالة.</a:t>
            </a:r>
          </a:p>
        </p:txBody>
      </p:sp>
      <p:sp>
        <p:nvSpPr>
          <p:cNvPr id="12" name="">
            <a:extLst xmlns:a="http://schemas.openxmlformats.org/drawingml/2006/main">
              <a:ext uri="{FF2B5EF4-FFF2-40B4-BE49-F238E27FC236}">
                <a16:creationId xmlns:a16="http://schemas.microsoft.com/office/drawing/2014/main" id="{57B1B6EC-996C-4521-A108-961251C4D9FF}"/>
              </a:ext>
            </a:extLst>
          </p:cNvPr>
          <p:cNvSpPr>
            <a:spLocks xmlns:a="http://schemas.openxmlformats.org/drawingml/2006/main" noGrp="1"/>
          </p:cNvSpPr>
          <p:nvPr/>
        </p:nvSpPr>
        <p:spPr>
          <a:xfrm xmlns:a="http://schemas.openxmlformats.org/drawingml/2006/main">
            <a:off x="685800" y="6381750"/>
            <a:ext cx="1143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5000"/>
          </a:bodyPr>
          <a:lstStyle xmlns:a="http://schemas.openxmlformats.org/drawingml/2006/main"/>
          <a:p xmlns:a="http://schemas.openxmlformats.org/drawingml/2006/main">
            <a:pPr algn="l">
              <a:defRPr sz="1200" b="1">
                <a:solidFill>
                  <a:srgbClr val="786B65"/>
                </a:solidFill>
                <a:latin typeface="Arial"/>
                <a:ea typeface="Arial"/>
                <a:cs typeface="Arial"/>
              </a:defRPr>
            </a:pPr>
            <a:r>
              <a:rPr sz="1200" b="1">
                <a:solidFill>
                  <a:srgbClr val="786B65"/>
                </a:solidFill>
                <a:latin typeface="Arial"/>
                <a:ea typeface="Arial"/>
                <a:cs typeface="Arial"/>
              </a:rPr>
              <a:t>VIORA</a:t>
            </a:r>
          </a:p>
        </p:txBody>
      </p:sp>
      <p:sp>
        <p:nvSpPr>
          <p:cNvPr id="13" name="">
            <a:extLst xmlns:a="http://schemas.openxmlformats.org/drawingml/2006/main">
              <a:ext uri="{FF2B5EF4-FFF2-40B4-BE49-F238E27FC236}">
                <a16:creationId xmlns:a16="http://schemas.microsoft.com/office/drawing/2014/main" id="{B676E36C-ADFA-472E-A498-0F1A5A161BFF}"/>
              </a:ext>
            </a:extLst>
          </p:cNvPr>
          <p:cNvSpPr>
            <a:spLocks xmlns:a="http://schemas.openxmlformats.org/drawingml/2006/main" noGrp="1"/>
          </p:cNvSpPr>
          <p:nvPr/>
        </p:nvSpPr>
        <p:spPr>
          <a:xfrm xmlns:a="http://schemas.openxmlformats.org/drawingml/2006/main">
            <a:off x="10610850" y="6381750"/>
            <a:ext cx="8953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0000"/>
          </a:bodyPr>
          <a:lstStyle xmlns:a="http://schemas.openxmlformats.org/drawingml/2006/main"/>
          <a:p xmlns:a="http://schemas.openxmlformats.org/drawingml/2006/main">
            <a:pPr algn="r">
              <a:defRPr sz="1125" b="0">
                <a:solidFill>
                  <a:srgbClr val="786B65"/>
                </a:solidFill>
                <a:latin typeface="Arial"/>
                <a:ea typeface="Arial"/>
                <a:cs typeface="Arial"/>
              </a:defRPr>
            </a:pPr>
            <a:r>
              <a:rPr sz="1125" b="0">
                <a:solidFill>
                  <a:srgbClr val="786B65"/>
                </a:solidFill>
                <a:latin typeface="Arial"/>
                <a:ea typeface="Arial"/>
                <a:cs typeface="Arial"/>
              </a:rPr>
              <a:t>02</a:t>
            </a:r>
          </a:p>
        </p:txBody>
      </p:sp>
    </p:spTree>
    <p:extLst>
      <p:ext uri="{BB962C8B-B14F-4D97-AF65-F5344CB8AC3E}">
        <p14:creationId xmlns:p14="http://schemas.microsoft.com/office/powerpoint/2010/main" val="1330194027"/>
      </p:ext>
    </p:extLst>
  </p:cSld>
</p:sld>
</file>

<file path=ppt/slides/slide3.xml><?xml version="1.0" encoding="utf-8"?>
<p:sld xmlns:p="http://schemas.openxmlformats.org/presentationml/2006/main">
  <p:cSld>
    <p:bg>
      <p:bgPr>
        <a:solidFill xmlns:a="http://schemas.openxmlformats.org/drawingml/2006/main">
          <a:srgbClr val="FBF8F3"/>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AFA5511E-1CF6-47DA-ABDF-601C8E9F4082}"/>
              </a:ext>
            </a:extLst>
          </p:cNvPr>
          <p:cNvSpPr>
            <a:spLocks xmlns:a="http://schemas.openxmlformats.org/drawingml/2006/main" noGrp="1"/>
          </p:cNvSpPr>
          <p:nvPr/>
        </p:nvSpPr>
        <p:spPr>
          <a:xfrm xmlns:a="http://schemas.openxmlformats.org/drawingml/2006/main">
            <a:off x="800100" y="552450"/>
            <a:ext cx="105918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2063"/>
          </a:bodyPr>
          <a:lstStyle xmlns:a="http://schemas.openxmlformats.org/drawingml/2006/main"/>
          <a:p xmlns:a="http://schemas.openxmlformats.org/drawingml/2006/main">
            <a:pPr algn="r">
              <a:defRPr sz="3150" b="1">
                <a:solidFill>
                  <a:srgbClr val="231A18"/>
                </a:solidFill>
                <a:latin typeface="Arial"/>
                <a:ea typeface="Arial"/>
                <a:cs typeface="Arial"/>
              </a:defRPr>
            </a:pPr>
            <a:r>
              <a:rPr sz="3150" b="1">
                <a:solidFill>
                  <a:srgbClr val="231A18"/>
                </a:solidFill>
                <a:latin typeface="Arial"/>
                <a:ea typeface="Arial"/>
                <a:cs typeface="Arial"/>
              </a:rPr>
              <a:t>الحل</a:t>
            </a:r>
          </a:p>
        </p:txBody>
      </p:sp>
      <p:sp>
        <p:nvSpPr>
          <p:cNvPr id="2" name="">
            <a:extLst xmlns:a="http://schemas.openxmlformats.org/drawingml/2006/main">
              <a:ext uri="{FF2B5EF4-FFF2-40B4-BE49-F238E27FC236}">
                <a16:creationId xmlns:a16="http://schemas.microsoft.com/office/drawing/2014/main" id="{DE828782-0A84-4ECC-997C-49C321C55123}"/>
              </a:ext>
            </a:extLst>
          </p:cNvPr>
          <p:cNvSpPr>
            <a:spLocks xmlns:a="http://schemas.openxmlformats.org/drawingml/2006/main" noGrp="1"/>
          </p:cNvSpPr>
          <p:nvPr/>
        </p:nvSpPr>
        <p:spPr>
          <a:xfrm xmlns:a="http://schemas.openxmlformats.org/drawingml/2006/main">
            <a:off x="800100" y="1219200"/>
            <a:ext cx="10591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r">
              <a:defRPr sz="1800" b="0">
                <a:solidFill>
                  <a:srgbClr val="786B65"/>
                </a:solidFill>
                <a:latin typeface="Arial"/>
                <a:ea typeface="Arial"/>
                <a:cs typeface="Arial"/>
              </a:defRPr>
            </a:pPr>
            <a:r>
              <a:rPr sz="1800" b="0">
                <a:solidFill>
                  <a:srgbClr val="786B65"/>
                </a:solidFill>
                <a:latin typeface="Arial"/>
                <a:ea typeface="Arial"/>
                <a:cs typeface="Arial"/>
              </a:rPr>
              <a:t>فيورا تجمع المتاجر والمنتجات في تجربة عربية واحدة من البحث حتى متابعة الطلب.</a:t>
            </a:r>
          </a:p>
        </p:txBody>
      </p:sp>
      <p:sp>
        <p:nvSpPr>
          <p:cNvPr id="3" name="">
            <a:extLst xmlns:a="http://schemas.openxmlformats.org/drawingml/2006/main">
              <a:ext uri="{FF2B5EF4-FFF2-40B4-BE49-F238E27FC236}">
                <a16:creationId xmlns:a16="http://schemas.microsoft.com/office/drawing/2014/main" id="{F8A53199-0456-46F2-BA9A-215F1FCABE9D}"/>
              </a:ext>
            </a:extLst>
          </p:cNvPr>
          <p:cNvSpPr>
            <a:spLocks xmlns:a="http://schemas.openxmlformats.org/drawingml/2006/main" noGrp="1"/>
          </p:cNvSpPr>
          <p:nvPr/>
        </p:nvSpPr>
        <p:spPr>
          <a:xfrm xmlns:a="http://schemas.openxmlformats.org/drawingml/2006/main">
            <a:off x="800100" y="2095500"/>
            <a:ext cx="10591800" cy="19050"/>
          </a:xfrm>
          <a:prstGeom xmlns:a="http://schemas.openxmlformats.org/drawingml/2006/main" prst="rect">
            <a:avLst/>
          </a:prstGeom>
          <a:solidFill xmlns:a="http://schemas.openxmlformats.org/drawingml/2006/main">
            <a:srgbClr val="E8D8CB"/>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3B4375ED-5802-4C01-B34E-E8CBA37BA72B}"/>
              </a:ext>
            </a:extLst>
          </p:cNvPr>
          <p:cNvSpPr>
            <a:spLocks xmlns:a="http://schemas.openxmlformats.org/drawingml/2006/main" noGrp="1"/>
          </p:cNvSpPr>
          <p:nvPr/>
        </p:nvSpPr>
        <p:spPr>
          <a:xfrm xmlns:a="http://schemas.openxmlformats.org/drawingml/2006/main">
            <a:off x="800100" y="2457450"/>
            <a:ext cx="6858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00" b="1">
                <a:solidFill>
                  <a:srgbClr val="9A3040"/>
                </a:solidFill>
                <a:latin typeface="Arial"/>
                <a:ea typeface="Arial"/>
                <a:cs typeface="Arial"/>
              </a:defRPr>
            </a:pPr>
            <a:r>
              <a:rPr sz="1200" b="1">
                <a:solidFill>
                  <a:srgbClr val="9A3040"/>
                </a:solidFill>
                <a:latin typeface="Arial"/>
                <a:ea typeface="Arial"/>
                <a:cs typeface="Arial"/>
              </a:rPr>
              <a:t>01</a:t>
            </a:r>
          </a:p>
        </p:txBody>
      </p:sp>
      <p:sp>
        <p:nvSpPr>
          <p:cNvPr id="5" name="">
            <a:extLst xmlns:a="http://schemas.openxmlformats.org/drawingml/2006/main">
              <a:ext uri="{FF2B5EF4-FFF2-40B4-BE49-F238E27FC236}">
                <a16:creationId xmlns:a16="http://schemas.microsoft.com/office/drawing/2014/main" id="{76592629-81F7-46CB-9E00-827988105934}"/>
              </a:ext>
            </a:extLst>
          </p:cNvPr>
          <p:cNvSpPr>
            <a:spLocks xmlns:a="http://schemas.openxmlformats.org/drawingml/2006/main" noGrp="1"/>
          </p:cNvSpPr>
          <p:nvPr/>
        </p:nvSpPr>
        <p:spPr>
          <a:xfrm xmlns:a="http://schemas.openxmlformats.org/drawingml/2006/main">
            <a:off x="800100" y="2905125"/>
            <a:ext cx="2000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175" b="1">
                <a:solidFill>
                  <a:srgbClr val="231A18"/>
                </a:solidFill>
                <a:latin typeface="Arial"/>
                <a:ea typeface="Arial"/>
                <a:cs typeface="Arial"/>
              </a:defRPr>
            </a:pPr>
            <a:r>
              <a:rPr sz="2175" b="1">
                <a:solidFill>
                  <a:srgbClr val="231A18"/>
                </a:solidFill>
                <a:latin typeface="Arial"/>
                <a:ea typeface="Arial"/>
                <a:cs typeface="Arial"/>
              </a:rPr>
              <a:t>اكتشف</a:t>
            </a:r>
          </a:p>
        </p:txBody>
      </p:sp>
      <p:sp>
        <p:nvSpPr>
          <p:cNvPr id="6" name="">
            <a:extLst xmlns:a="http://schemas.openxmlformats.org/drawingml/2006/main">
              <a:ext uri="{FF2B5EF4-FFF2-40B4-BE49-F238E27FC236}">
                <a16:creationId xmlns:a16="http://schemas.microsoft.com/office/drawing/2014/main" id="{A47A6B4C-7667-49E6-BDB8-F20089CE13D2}"/>
              </a:ext>
            </a:extLst>
          </p:cNvPr>
          <p:cNvSpPr>
            <a:spLocks xmlns:a="http://schemas.openxmlformats.org/drawingml/2006/main" noGrp="1"/>
          </p:cNvSpPr>
          <p:nvPr/>
        </p:nvSpPr>
        <p:spPr>
          <a:xfrm xmlns:a="http://schemas.openxmlformats.org/drawingml/2006/main">
            <a:off x="800100" y="3524250"/>
            <a:ext cx="2190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575" b="0">
                <a:solidFill>
                  <a:srgbClr val="786B65"/>
                </a:solidFill>
                <a:latin typeface="Arial"/>
                <a:ea typeface="Arial"/>
                <a:cs typeface="Arial"/>
              </a:defRPr>
            </a:pPr>
            <a:r>
              <a:rPr sz="1575" b="0">
                <a:solidFill>
                  <a:srgbClr val="786B65"/>
                </a:solidFill>
                <a:latin typeface="Arial"/>
                <a:ea typeface="Arial"/>
                <a:cs typeface="Arial"/>
              </a:rPr>
              <a:t>متاجر ومنتجات</a:t>
            </a:r>
          </a:p>
          <a:p xmlns:a="http://schemas.openxmlformats.org/drawingml/2006/main">
            <a:pPr algn="l">
              <a:defRPr sz="1575" b="0">
                <a:solidFill>
                  <a:srgbClr val="786B65"/>
                </a:solidFill>
                <a:latin typeface="Arial"/>
                <a:ea typeface="Arial"/>
                <a:cs typeface="Arial"/>
              </a:defRPr>
            </a:pPr>
            <a:r>
              <a:rPr sz="1575" b="0">
                <a:solidFill>
                  <a:srgbClr val="786B65"/>
                </a:solidFill>
                <a:latin typeface="Arial"/>
                <a:ea typeface="Arial"/>
                <a:cs typeface="Arial"/>
              </a:rPr>
              <a:t>وتصنيفات واضحة</a:t>
            </a:r>
          </a:p>
        </p:txBody>
      </p:sp>
      <p:sp>
        <p:nvSpPr>
          <p:cNvPr id="7" name="">
            <a:extLst xmlns:a="http://schemas.openxmlformats.org/drawingml/2006/main">
              <a:ext uri="{FF2B5EF4-FFF2-40B4-BE49-F238E27FC236}">
                <a16:creationId xmlns:a16="http://schemas.microsoft.com/office/drawing/2014/main" id="{26F74ADC-663A-457E-995F-1AFDE5A7067F}"/>
              </a:ext>
            </a:extLst>
          </p:cNvPr>
          <p:cNvSpPr>
            <a:spLocks xmlns:a="http://schemas.openxmlformats.org/drawingml/2006/main" noGrp="1"/>
          </p:cNvSpPr>
          <p:nvPr/>
        </p:nvSpPr>
        <p:spPr>
          <a:xfrm xmlns:a="http://schemas.openxmlformats.org/drawingml/2006/main">
            <a:off x="3133725" y="3143250"/>
            <a:ext cx="285750" cy="0"/>
          </a:xfrm>
          <a:prstGeom xmlns:a="http://schemas.openxmlformats.org/drawingml/2006/main" prst="line">
            <a:avLst/>
          </a:prstGeom>
          <a:noFill xmlns:a="http://schemas.openxmlformats.org/drawingml/2006/main"/>
          <a:ln xmlns:a="http://schemas.openxmlformats.org/drawingml/2006/main" w="9525">
            <a:solidFill>
              <a:srgbClr val="7E182A"/>
            </a:solidFill>
            <a:prstDash val="solid"/>
          </a:ln>
        </p:spPr>
      </p:sp>
      <p:sp>
        <p:nvSpPr>
          <p:cNvPr id="8" name="">
            <a:extLst xmlns:a="http://schemas.openxmlformats.org/drawingml/2006/main">
              <a:ext uri="{FF2B5EF4-FFF2-40B4-BE49-F238E27FC236}">
                <a16:creationId xmlns:a16="http://schemas.microsoft.com/office/drawing/2014/main" id="{1D2381A1-0917-4BEE-9B1B-53B79C6AC30B}"/>
              </a:ext>
            </a:extLst>
          </p:cNvPr>
          <p:cNvSpPr>
            <a:spLocks xmlns:a="http://schemas.openxmlformats.org/drawingml/2006/main" noGrp="1"/>
          </p:cNvSpPr>
          <p:nvPr/>
        </p:nvSpPr>
        <p:spPr>
          <a:xfrm xmlns:a="http://schemas.openxmlformats.org/drawingml/2006/main">
            <a:off x="3448050" y="2457450"/>
            <a:ext cx="6858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00" b="1">
                <a:solidFill>
                  <a:srgbClr val="9A3040"/>
                </a:solidFill>
                <a:latin typeface="Arial"/>
                <a:ea typeface="Arial"/>
                <a:cs typeface="Arial"/>
              </a:defRPr>
            </a:pPr>
            <a:r>
              <a:rPr sz="1200" b="1">
                <a:solidFill>
                  <a:srgbClr val="9A3040"/>
                </a:solidFill>
                <a:latin typeface="Arial"/>
                <a:ea typeface="Arial"/>
                <a:cs typeface="Arial"/>
              </a:rPr>
              <a:t>02</a:t>
            </a:r>
          </a:p>
        </p:txBody>
      </p:sp>
      <p:sp>
        <p:nvSpPr>
          <p:cNvPr id="9" name="">
            <a:extLst xmlns:a="http://schemas.openxmlformats.org/drawingml/2006/main">
              <a:ext uri="{FF2B5EF4-FFF2-40B4-BE49-F238E27FC236}">
                <a16:creationId xmlns:a16="http://schemas.microsoft.com/office/drawing/2014/main" id="{6AC6E7B0-5F71-43F9-A672-CFE7C3AA0763}"/>
              </a:ext>
            </a:extLst>
          </p:cNvPr>
          <p:cNvSpPr>
            <a:spLocks xmlns:a="http://schemas.openxmlformats.org/drawingml/2006/main" noGrp="1"/>
          </p:cNvSpPr>
          <p:nvPr/>
        </p:nvSpPr>
        <p:spPr>
          <a:xfrm xmlns:a="http://schemas.openxmlformats.org/drawingml/2006/main">
            <a:off x="3448050" y="2905125"/>
            <a:ext cx="2000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175" b="1">
                <a:solidFill>
                  <a:srgbClr val="231A18"/>
                </a:solidFill>
                <a:latin typeface="Arial"/>
                <a:ea typeface="Arial"/>
                <a:cs typeface="Arial"/>
              </a:defRPr>
            </a:pPr>
            <a:r>
              <a:rPr sz="2175" b="1">
                <a:solidFill>
                  <a:srgbClr val="231A18"/>
                </a:solidFill>
                <a:latin typeface="Arial"/>
                <a:ea typeface="Arial"/>
                <a:cs typeface="Arial"/>
              </a:rPr>
              <a:t>اختَر</a:t>
            </a:r>
          </a:p>
        </p:txBody>
      </p:sp>
      <p:sp>
        <p:nvSpPr>
          <p:cNvPr id="10" name="">
            <a:extLst xmlns:a="http://schemas.openxmlformats.org/drawingml/2006/main">
              <a:ext uri="{FF2B5EF4-FFF2-40B4-BE49-F238E27FC236}">
                <a16:creationId xmlns:a16="http://schemas.microsoft.com/office/drawing/2014/main" id="{6BF54346-2717-4361-9D5B-4CF5906DAC7A}"/>
              </a:ext>
            </a:extLst>
          </p:cNvPr>
          <p:cNvSpPr>
            <a:spLocks xmlns:a="http://schemas.openxmlformats.org/drawingml/2006/main" noGrp="1"/>
          </p:cNvSpPr>
          <p:nvPr/>
        </p:nvSpPr>
        <p:spPr>
          <a:xfrm xmlns:a="http://schemas.openxmlformats.org/drawingml/2006/main">
            <a:off x="3448050" y="3524250"/>
            <a:ext cx="2190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575" b="0">
                <a:solidFill>
                  <a:srgbClr val="786B65"/>
                </a:solidFill>
                <a:latin typeface="Arial"/>
                <a:ea typeface="Arial"/>
                <a:cs typeface="Arial"/>
              </a:defRPr>
            </a:pPr>
            <a:r>
              <a:rPr sz="1575" b="0">
                <a:solidFill>
                  <a:srgbClr val="786B65"/>
                </a:solidFill>
                <a:latin typeface="Arial"/>
                <a:ea typeface="Arial"/>
                <a:cs typeface="Arial"/>
              </a:rPr>
              <a:t>بحث وفلترة</a:t>
            </a:r>
          </a:p>
          <a:p xmlns:a="http://schemas.openxmlformats.org/drawingml/2006/main">
            <a:pPr algn="l">
              <a:defRPr sz="1575" b="0">
                <a:solidFill>
                  <a:srgbClr val="786B65"/>
                </a:solidFill>
                <a:latin typeface="Arial"/>
                <a:ea typeface="Arial"/>
                <a:cs typeface="Arial"/>
              </a:defRPr>
            </a:pPr>
            <a:r>
              <a:rPr sz="1575" b="0">
                <a:solidFill>
                  <a:srgbClr val="786B65"/>
                </a:solidFill>
                <a:latin typeface="Arial"/>
                <a:ea typeface="Arial"/>
                <a:cs typeface="Arial"/>
              </a:rPr>
              <a:t>ومفضلة شخصية</a:t>
            </a:r>
          </a:p>
        </p:txBody>
      </p:sp>
      <p:sp>
        <p:nvSpPr>
          <p:cNvPr id="11" name="">
            <a:extLst xmlns:a="http://schemas.openxmlformats.org/drawingml/2006/main">
              <a:ext uri="{FF2B5EF4-FFF2-40B4-BE49-F238E27FC236}">
                <a16:creationId xmlns:a16="http://schemas.microsoft.com/office/drawing/2014/main" id="{B9BA076D-5A6C-4EFC-BD72-CBDF8E16AC8B}"/>
              </a:ext>
            </a:extLst>
          </p:cNvPr>
          <p:cNvSpPr>
            <a:spLocks xmlns:a="http://schemas.openxmlformats.org/drawingml/2006/main" noGrp="1"/>
          </p:cNvSpPr>
          <p:nvPr/>
        </p:nvSpPr>
        <p:spPr>
          <a:xfrm xmlns:a="http://schemas.openxmlformats.org/drawingml/2006/main">
            <a:off x="5781675" y="3143250"/>
            <a:ext cx="285750" cy="0"/>
          </a:xfrm>
          <a:prstGeom xmlns:a="http://schemas.openxmlformats.org/drawingml/2006/main" prst="line">
            <a:avLst/>
          </a:prstGeom>
          <a:noFill xmlns:a="http://schemas.openxmlformats.org/drawingml/2006/main"/>
          <a:ln xmlns:a="http://schemas.openxmlformats.org/drawingml/2006/main" w="9525">
            <a:solidFill>
              <a:srgbClr val="7E182A"/>
            </a:solidFill>
            <a:prstDash val="solid"/>
          </a:ln>
        </p:spPr>
      </p:sp>
      <p:sp>
        <p:nvSpPr>
          <p:cNvPr id="12" name="">
            <a:extLst xmlns:a="http://schemas.openxmlformats.org/drawingml/2006/main">
              <a:ext uri="{FF2B5EF4-FFF2-40B4-BE49-F238E27FC236}">
                <a16:creationId xmlns:a16="http://schemas.microsoft.com/office/drawing/2014/main" id="{3A5BDB28-8701-4ED8-A3A3-5018268830BE}"/>
              </a:ext>
            </a:extLst>
          </p:cNvPr>
          <p:cNvSpPr>
            <a:spLocks xmlns:a="http://schemas.openxmlformats.org/drawingml/2006/main" noGrp="1"/>
          </p:cNvSpPr>
          <p:nvPr/>
        </p:nvSpPr>
        <p:spPr>
          <a:xfrm xmlns:a="http://schemas.openxmlformats.org/drawingml/2006/main">
            <a:off x="6096000" y="2457450"/>
            <a:ext cx="6858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00" b="1">
                <a:solidFill>
                  <a:srgbClr val="9A3040"/>
                </a:solidFill>
                <a:latin typeface="Arial"/>
                <a:ea typeface="Arial"/>
                <a:cs typeface="Arial"/>
              </a:defRPr>
            </a:pPr>
            <a:r>
              <a:rPr sz="1200" b="1">
                <a:solidFill>
                  <a:srgbClr val="9A3040"/>
                </a:solidFill>
                <a:latin typeface="Arial"/>
                <a:ea typeface="Arial"/>
                <a:cs typeface="Arial"/>
              </a:rPr>
              <a:t>03</a:t>
            </a:r>
          </a:p>
        </p:txBody>
      </p:sp>
      <p:sp>
        <p:nvSpPr>
          <p:cNvPr id="13" name="">
            <a:extLst xmlns:a="http://schemas.openxmlformats.org/drawingml/2006/main">
              <a:ext uri="{FF2B5EF4-FFF2-40B4-BE49-F238E27FC236}">
                <a16:creationId xmlns:a16="http://schemas.microsoft.com/office/drawing/2014/main" id="{2EA43E8B-B40F-460E-B3D6-69C7888BC6FE}"/>
              </a:ext>
            </a:extLst>
          </p:cNvPr>
          <p:cNvSpPr>
            <a:spLocks xmlns:a="http://schemas.openxmlformats.org/drawingml/2006/main" noGrp="1"/>
          </p:cNvSpPr>
          <p:nvPr/>
        </p:nvSpPr>
        <p:spPr>
          <a:xfrm xmlns:a="http://schemas.openxmlformats.org/drawingml/2006/main">
            <a:off x="6096000" y="2905125"/>
            <a:ext cx="2000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175" b="1">
                <a:solidFill>
                  <a:srgbClr val="231A18"/>
                </a:solidFill>
                <a:latin typeface="Arial"/>
                <a:ea typeface="Arial"/>
                <a:cs typeface="Arial"/>
              </a:defRPr>
            </a:pPr>
            <a:r>
              <a:rPr sz="2175" b="1">
                <a:solidFill>
                  <a:srgbClr val="231A18"/>
                </a:solidFill>
                <a:latin typeface="Arial"/>
                <a:ea typeface="Arial"/>
                <a:cs typeface="Arial"/>
              </a:rPr>
              <a:t>اطلب</a:t>
            </a:r>
          </a:p>
        </p:txBody>
      </p:sp>
      <p:sp>
        <p:nvSpPr>
          <p:cNvPr id="14" name="">
            <a:extLst xmlns:a="http://schemas.openxmlformats.org/drawingml/2006/main">
              <a:ext uri="{FF2B5EF4-FFF2-40B4-BE49-F238E27FC236}">
                <a16:creationId xmlns:a16="http://schemas.microsoft.com/office/drawing/2014/main" id="{588EB2E0-A33D-4D49-9569-3A196DEA8A83}"/>
              </a:ext>
            </a:extLst>
          </p:cNvPr>
          <p:cNvSpPr>
            <a:spLocks xmlns:a="http://schemas.openxmlformats.org/drawingml/2006/main" noGrp="1"/>
          </p:cNvSpPr>
          <p:nvPr/>
        </p:nvSpPr>
        <p:spPr>
          <a:xfrm xmlns:a="http://schemas.openxmlformats.org/drawingml/2006/main">
            <a:off x="6096000" y="3524250"/>
            <a:ext cx="2190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575" b="0">
                <a:solidFill>
                  <a:srgbClr val="786B65"/>
                </a:solidFill>
                <a:latin typeface="Arial"/>
                <a:ea typeface="Arial"/>
                <a:cs typeface="Arial"/>
              </a:defRPr>
            </a:pPr>
            <a:r>
              <a:rPr sz="1575" b="0">
                <a:solidFill>
                  <a:srgbClr val="786B65"/>
                </a:solidFill>
                <a:latin typeface="Arial"/>
                <a:ea typeface="Arial"/>
                <a:cs typeface="Arial"/>
              </a:rPr>
              <a:t>سلة وعناوين</a:t>
            </a:r>
          </a:p>
          <a:p xmlns:a="http://schemas.openxmlformats.org/drawingml/2006/main">
            <a:pPr algn="l">
              <a:defRPr sz="1575" b="0">
                <a:solidFill>
                  <a:srgbClr val="786B65"/>
                </a:solidFill>
                <a:latin typeface="Arial"/>
                <a:ea typeface="Arial"/>
                <a:cs typeface="Arial"/>
              </a:defRPr>
            </a:pPr>
            <a:r>
              <a:rPr sz="1575" b="0">
                <a:solidFill>
                  <a:srgbClr val="786B65"/>
                </a:solidFill>
                <a:latin typeface="Arial"/>
                <a:ea typeface="Arial"/>
                <a:cs typeface="Arial"/>
              </a:rPr>
              <a:t>ودفع عند الاستلام</a:t>
            </a:r>
          </a:p>
        </p:txBody>
      </p:sp>
      <p:sp>
        <p:nvSpPr>
          <p:cNvPr id="15" name="">
            <a:extLst xmlns:a="http://schemas.openxmlformats.org/drawingml/2006/main">
              <a:ext uri="{FF2B5EF4-FFF2-40B4-BE49-F238E27FC236}">
                <a16:creationId xmlns:a16="http://schemas.microsoft.com/office/drawing/2014/main" id="{9847EB30-98DB-4C23-9011-09CE7AEADEE7}"/>
              </a:ext>
            </a:extLst>
          </p:cNvPr>
          <p:cNvSpPr>
            <a:spLocks xmlns:a="http://schemas.openxmlformats.org/drawingml/2006/main" noGrp="1"/>
          </p:cNvSpPr>
          <p:nvPr/>
        </p:nvSpPr>
        <p:spPr>
          <a:xfrm xmlns:a="http://schemas.openxmlformats.org/drawingml/2006/main">
            <a:off x="8429625" y="3143250"/>
            <a:ext cx="285750" cy="0"/>
          </a:xfrm>
          <a:prstGeom xmlns:a="http://schemas.openxmlformats.org/drawingml/2006/main" prst="line">
            <a:avLst/>
          </a:prstGeom>
          <a:noFill xmlns:a="http://schemas.openxmlformats.org/drawingml/2006/main"/>
          <a:ln xmlns:a="http://schemas.openxmlformats.org/drawingml/2006/main" w="9525">
            <a:solidFill>
              <a:srgbClr val="7E182A"/>
            </a:solidFill>
            <a:prstDash val="solid"/>
          </a:ln>
        </p:spPr>
      </p:sp>
      <p:sp>
        <p:nvSpPr>
          <p:cNvPr id="16" name="">
            <a:extLst xmlns:a="http://schemas.openxmlformats.org/drawingml/2006/main">
              <a:ext uri="{FF2B5EF4-FFF2-40B4-BE49-F238E27FC236}">
                <a16:creationId xmlns:a16="http://schemas.microsoft.com/office/drawing/2014/main" id="{D1328E0E-0904-4AE5-BB80-29FEA31E504F}"/>
              </a:ext>
            </a:extLst>
          </p:cNvPr>
          <p:cNvSpPr>
            <a:spLocks xmlns:a="http://schemas.openxmlformats.org/drawingml/2006/main" noGrp="1"/>
          </p:cNvSpPr>
          <p:nvPr/>
        </p:nvSpPr>
        <p:spPr>
          <a:xfrm xmlns:a="http://schemas.openxmlformats.org/drawingml/2006/main">
            <a:off x="8743950" y="2457450"/>
            <a:ext cx="6858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00" b="1">
                <a:solidFill>
                  <a:srgbClr val="9A3040"/>
                </a:solidFill>
                <a:latin typeface="Arial"/>
                <a:ea typeface="Arial"/>
                <a:cs typeface="Arial"/>
              </a:defRPr>
            </a:pPr>
            <a:r>
              <a:rPr sz="1200" b="1">
                <a:solidFill>
                  <a:srgbClr val="9A3040"/>
                </a:solidFill>
                <a:latin typeface="Arial"/>
                <a:ea typeface="Arial"/>
                <a:cs typeface="Arial"/>
              </a:rPr>
              <a:t>04</a:t>
            </a:r>
          </a:p>
        </p:txBody>
      </p:sp>
      <p:sp>
        <p:nvSpPr>
          <p:cNvPr id="17" name="">
            <a:extLst xmlns:a="http://schemas.openxmlformats.org/drawingml/2006/main">
              <a:ext uri="{FF2B5EF4-FFF2-40B4-BE49-F238E27FC236}">
                <a16:creationId xmlns:a16="http://schemas.microsoft.com/office/drawing/2014/main" id="{7E2BAEC6-0BD5-4D17-97F4-2B454D86A1EE}"/>
              </a:ext>
            </a:extLst>
          </p:cNvPr>
          <p:cNvSpPr>
            <a:spLocks xmlns:a="http://schemas.openxmlformats.org/drawingml/2006/main" noGrp="1"/>
          </p:cNvSpPr>
          <p:nvPr/>
        </p:nvSpPr>
        <p:spPr>
          <a:xfrm xmlns:a="http://schemas.openxmlformats.org/drawingml/2006/main">
            <a:off x="8743950" y="2905125"/>
            <a:ext cx="2000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175" b="1">
                <a:solidFill>
                  <a:srgbClr val="231A18"/>
                </a:solidFill>
                <a:latin typeface="Arial"/>
                <a:ea typeface="Arial"/>
                <a:cs typeface="Arial"/>
              </a:defRPr>
            </a:pPr>
            <a:r>
              <a:rPr sz="2175" b="1">
                <a:solidFill>
                  <a:srgbClr val="231A18"/>
                </a:solidFill>
                <a:latin typeface="Arial"/>
                <a:ea typeface="Arial"/>
                <a:cs typeface="Arial"/>
              </a:rPr>
              <a:t>تابع</a:t>
            </a:r>
          </a:p>
        </p:txBody>
      </p:sp>
      <p:sp>
        <p:nvSpPr>
          <p:cNvPr id="18" name="">
            <a:extLst xmlns:a="http://schemas.openxmlformats.org/drawingml/2006/main">
              <a:ext uri="{FF2B5EF4-FFF2-40B4-BE49-F238E27FC236}">
                <a16:creationId xmlns:a16="http://schemas.microsoft.com/office/drawing/2014/main" id="{388C6E5A-A72B-4EA6-B3A1-C80C4BDBB0D3}"/>
              </a:ext>
            </a:extLst>
          </p:cNvPr>
          <p:cNvSpPr>
            <a:spLocks xmlns:a="http://schemas.openxmlformats.org/drawingml/2006/main" noGrp="1"/>
          </p:cNvSpPr>
          <p:nvPr/>
        </p:nvSpPr>
        <p:spPr>
          <a:xfrm xmlns:a="http://schemas.openxmlformats.org/drawingml/2006/main">
            <a:off x="8743950" y="3524250"/>
            <a:ext cx="2190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575" b="0">
                <a:solidFill>
                  <a:srgbClr val="786B65"/>
                </a:solidFill>
                <a:latin typeface="Arial"/>
                <a:ea typeface="Arial"/>
                <a:cs typeface="Arial"/>
              </a:defRPr>
            </a:pPr>
            <a:r>
              <a:rPr sz="1575" b="0">
                <a:solidFill>
                  <a:srgbClr val="786B65"/>
                </a:solidFill>
                <a:latin typeface="Arial"/>
                <a:ea typeface="Arial"/>
                <a:cs typeface="Arial"/>
              </a:rPr>
              <a:t>طلبات وإشعارات</a:t>
            </a:r>
          </a:p>
          <a:p xmlns:a="http://schemas.openxmlformats.org/drawingml/2006/main">
            <a:pPr algn="l">
              <a:defRPr sz="1575" b="0">
                <a:solidFill>
                  <a:srgbClr val="786B65"/>
                </a:solidFill>
                <a:latin typeface="Arial"/>
                <a:ea typeface="Arial"/>
                <a:cs typeface="Arial"/>
              </a:defRPr>
            </a:pPr>
            <a:r>
              <a:rPr sz="1575" b="0">
                <a:solidFill>
                  <a:srgbClr val="786B65"/>
                </a:solidFill>
                <a:latin typeface="Arial"/>
                <a:ea typeface="Arial"/>
                <a:cs typeface="Arial"/>
              </a:rPr>
              <a:t>وتفاصيل كل طلب</a:t>
            </a:r>
          </a:p>
        </p:txBody>
      </p:sp>
      <p:sp>
        <p:nvSpPr>
          <p:cNvPr id="19" name="">
            <a:extLst xmlns:a="http://schemas.openxmlformats.org/drawingml/2006/main">
              <a:ext uri="{FF2B5EF4-FFF2-40B4-BE49-F238E27FC236}">
                <a16:creationId xmlns:a16="http://schemas.microsoft.com/office/drawing/2014/main" id="{40BE926B-0757-4D34-A73D-F02DA26DDB0E}"/>
              </a:ext>
            </a:extLst>
          </p:cNvPr>
          <p:cNvSpPr>
            <a:spLocks xmlns:a="http://schemas.openxmlformats.org/drawingml/2006/main" noGrp="1"/>
          </p:cNvSpPr>
          <p:nvPr/>
        </p:nvSpPr>
        <p:spPr>
          <a:xfrm xmlns:a="http://schemas.openxmlformats.org/drawingml/2006/main">
            <a:off x="800100" y="5000625"/>
            <a:ext cx="10591800" cy="876300"/>
          </a:xfrm>
          <a:prstGeom xmlns:a="http://schemas.openxmlformats.org/drawingml/2006/main" prst="roundRect">
            <a:avLst>
              <a:gd name="adj" fmla="val 17391"/>
            </a:avLst>
          </a:prstGeom>
          <a:solidFill xmlns:a="http://schemas.openxmlformats.org/drawingml/2006/main">
            <a:srgbClr val="F3EAE3"/>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B3098296-F92A-46D1-A4C4-456CB8AA5458}"/>
              </a:ext>
            </a:extLst>
          </p:cNvPr>
          <p:cNvSpPr>
            <a:spLocks xmlns:a="http://schemas.openxmlformats.org/drawingml/2006/main" noGrp="1"/>
          </p:cNvSpPr>
          <p:nvPr/>
        </p:nvSpPr>
        <p:spPr>
          <a:xfrm xmlns:a="http://schemas.openxmlformats.org/drawingml/2006/main">
            <a:off x="1143000" y="5191125"/>
            <a:ext cx="9906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r">
              <a:defRPr sz="1875" b="1">
                <a:solidFill>
                  <a:srgbClr val="7E182A"/>
                </a:solidFill>
                <a:latin typeface="Arial"/>
                <a:ea typeface="Arial"/>
                <a:cs typeface="Arial"/>
              </a:defRPr>
            </a:pPr>
            <a:r>
              <a:rPr sz="1875" b="1">
                <a:solidFill>
                  <a:srgbClr val="7E182A"/>
                </a:solidFill>
                <a:latin typeface="Arial"/>
                <a:ea typeface="Arial"/>
                <a:cs typeface="Arial"/>
              </a:rPr>
              <a:t>للعميل: رحلة شراء واضحة. للمتجر: واجهة لعرض المنتجات وتحديث حالة الطلب.</a:t>
            </a:r>
          </a:p>
        </p:txBody>
      </p:sp>
      <p:sp>
        <p:nvSpPr>
          <p:cNvPr id="21" name="">
            <a:extLst xmlns:a="http://schemas.openxmlformats.org/drawingml/2006/main">
              <a:ext uri="{FF2B5EF4-FFF2-40B4-BE49-F238E27FC236}">
                <a16:creationId xmlns:a16="http://schemas.microsoft.com/office/drawing/2014/main" id="{78730B97-E80B-45A8-9213-73207151AC16}"/>
              </a:ext>
            </a:extLst>
          </p:cNvPr>
          <p:cNvSpPr>
            <a:spLocks xmlns:a="http://schemas.openxmlformats.org/drawingml/2006/main" noGrp="1"/>
          </p:cNvSpPr>
          <p:nvPr/>
        </p:nvSpPr>
        <p:spPr>
          <a:xfrm xmlns:a="http://schemas.openxmlformats.org/drawingml/2006/main">
            <a:off x="685800" y="6381750"/>
            <a:ext cx="1143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5000"/>
          </a:bodyPr>
          <a:lstStyle xmlns:a="http://schemas.openxmlformats.org/drawingml/2006/main"/>
          <a:p xmlns:a="http://schemas.openxmlformats.org/drawingml/2006/main">
            <a:pPr algn="l">
              <a:defRPr sz="1200" b="1">
                <a:solidFill>
                  <a:srgbClr val="786B65"/>
                </a:solidFill>
                <a:latin typeface="Arial"/>
                <a:ea typeface="Arial"/>
                <a:cs typeface="Arial"/>
              </a:defRPr>
            </a:pPr>
            <a:r>
              <a:rPr sz="1200" b="1">
                <a:solidFill>
                  <a:srgbClr val="786B65"/>
                </a:solidFill>
                <a:latin typeface="Arial"/>
                <a:ea typeface="Arial"/>
                <a:cs typeface="Arial"/>
              </a:rPr>
              <a:t>VIORA</a:t>
            </a:r>
          </a:p>
        </p:txBody>
      </p:sp>
      <p:sp>
        <p:nvSpPr>
          <p:cNvPr id="22" name="">
            <a:extLst xmlns:a="http://schemas.openxmlformats.org/drawingml/2006/main">
              <a:ext uri="{FF2B5EF4-FFF2-40B4-BE49-F238E27FC236}">
                <a16:creationId xmlns:a16="http://schemas.microsoft.com/office/drawing/2014/main" id="{716D9B8C-C7B5-4B8B-ABD9-0309424DD908}"/>
              </a:ext>
            </a:extLst>
          </p:cNvPr>
          <p:cNvSpPr>
            <a:spLocks xmlns:a="http://schemas.openxmlformats.org/drawingml/2006/main" noGrp="1"/>
          </p:cNvSpPr>
          <p:nvPr/>
        </p:nvSpPr>
        <p:spPr>
          <a:xfrm xmlns:a="http://schemas.openxmlformats.org/drawingml/2006/main">
            <a:off x="10610850" y="6381750"/>
            <a:ext cx="8953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0000"/>
          </a:bodyPr>
          <a:lstStyle xmlns:a="http://schemas.openxmlformats.org/drawingml/2006/main"/>
          <a:p xmlns:a="http://schemas.openxmlformats.org/drawingml/2006/main">
            <a:pPr algn="r">
              <a:defRPr sz="1125" b="0">
                <a:solidFill>
                  <a:srgbClr val="786B65"/>
                </a:solidFill>
                <a:latin typeface="Arial"/>
                <a:ea typeface="Arial"/>
                <a:cs typeface="Arial"/>
              </a:defRPr>
            </a:pPr>
            <a:r>
              <a:rPr sz="1125" b="0">
                <a:solidFill>
                  <a:srgbClr val="786B65"/>
                </a:solidFill>
                <a:latin typeface="Arial"/>
                <a:ea typeface="Arial"/>
                <a:cs typeface="Arial"/>
              </a:rPr>
              <a:t>03</a:t>
            </a:r>
          </a:p>
        </p:txBody>
      </p:sp>
    </p:spTree>
    <p:extLst>
      <p:ext uri="{BB962C8B-B14F-4D97-AF65-F5344CB8AC3E}">
        <p14:creationId xmlns:p14="http://schemas.microsoft.com/office/powerpoint/2010/main" val="1791166435"/>
      </p:ext>
    </p:extLst>
  </p:cSld>
</p:sld>
</file>

<file path=ppt/slides/slide4.xml><?xml version="1.0" encoding="utf-8"?>
<p:sld xmlns:p="http://schemas.openxmlformats.org/presentationml/2006/main">
  <p:cSld>
    <p:bg>
      <p:bgPr>
        <a:solidFill xmlns:a="http://schemas.openxmlformats.org/drawingml/2006/main">
          <a:srgbClr val="FBF8F3"/>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C4B2F166-51E3-4BE9-BB11-FF159EB52AA9}"/>
              </a:ext>
            </a:extLst>
          </p:cNvPr>
          <p:cNvSpPr>
            <a:spLocks xmlns:a="http://schemas.openxmlformats.org/drawingml/2006/main" noGrp="1"/>
          </p:cNvSpPr>
          <p:nvPr/>
        </p:nvSpPr>
        <p:spPr>
          <a:xfrm xmlns:a="http://schemas.openxmlformats.org/drawingml/2006/main">
            <a:off x="800100" y="552450"/>
            <a:ext cx="105918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2063"/>
          </a:bodyPr>
          <a:lstStyle xmlns:a="http://schemas.openxmlformats.org/drawingml/2006/main"/>
          <a:p xmlns:a="http://schemas.openxmlformats.org/drawingml/2006/main">
            <a:pPr algn="r">
              <a:defRPr sz="3150" b="1">
                <a:solidFill>
                  <a:srgbClr val="231A18"/>
                </a:solidFill>
                <a:latin typeface="Arial"/>
                <a:ea typeface="Arial"/>
                <a:cs typeface="Arial"/>
              </a:defRPr>
            </a:pPr>
            <a:r>
              <a:rPr sz="3150" b="1">
                <a:solidFill>
                  <a:srgbClr val="231A18"/>
                </a:solidFill>
                <a:latin typeface="Arial"/>
                <a:ea typeface="Arial"/>
                <a:cs typeface="Arial"/>
              </a:rPr>
              <a:t>السوق ونموذج الاستدامة</a:t>
            </a:r>
          </a:p>
        </p:txBody>
      </p:sp>
      <p:sp>
        <p:nvSpPr>
          <p:cNvPr id="2" name="">
            <a:extLst xmlns:a="http://schemas.openxmlformats.org/drawingml/2006/main">
              <a:ext uri="{FF2B5EF4-FFF2-40B4-BE49-F238E27FC236}">
                <a16:creationId xmlns:a16="http://schemas.microsoft.com/office/drawing/2014/main" id="{B367979F-8879-4EB3-AC84-A6346A9350AF}"/>
              </a:ext>
            </a:extLst>
          </p:cNvPr>
          <p:cNvSpPr>
            <a:spLocks xmlns:a="http://schemas.openxmlformats.org/drawingml/2006/main" noGrp="1"/>
          </p:cNvSpPr>
          <p:nvPr/>
        </p:nvSpPr>
        <p:spPr>
          <a:xfrm xmlns:a="http://schemas.openxmlformats.org/drawingml/2006/main">
            <a:off x="800100" y="1219200"/>
            <a:ext cx="10591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r">
              <a:defRPr sz="1800" b="0">
                <a:solidFill>
                  <a:srgbClr val="786B65"/>
                </a:solidFill>
                <a:latin typeface="Arial"/>
                <a:ea typeface="Arial"/>
                <a:cs typeface="Arial"/>
              </a:defRPr>
            </a:pPr>
            <a:r>
              <a:rPr sz="1800" b="0">
                <a:solidFill>
                  <a:srgbClr val="786B65"/>
                </a:solidFill>
                <a:latin typeface="Arial"/>
                <a:ea typeface="Arial"/>
                <a:cs typeface="Arial"/>
              </a:rPr>
              <a:t>نبدأ من احتياج واضح لدى المتسوقين والمتاجر المحلية في قطاع الأزياء.</a:t>
            </a:r>
          </a:p>
        </p:txBody>
      </p:sp>
      <p:sp>
        <p:nvSpPr>
          <p:cNvPr id="3" name="">
            <a:extLst xmlns:a="http://schemas.openxmlformats.org/drawingml/2006/main">
              <a:ext uri="{FF2B5EF4-FFF2-40B4-BE49-F238E27FC236}">
                <a16:creationId xmlns:a16="http://schemas.microsoft.com/office/drawing/2014/main" id="{2B5024FE-54A6-4A84-BCFB-7B636F1E45A3}"/>
              </a:ext>
            </a:extLst>
          </p:cNvPr>
          <p:cNvSpPr>
            <a:spLocks xmlns:a="http://schemas.openxmlformats.org/drawingml/2006/main" noGrp="1"/>
          </p:cNvSpPr>
          <p:nvPr/>
        </p:nvSpPr>
        <p:spPr>
          <a:xfrm xmlns:a="http://schemas.openxmlformats.org/drawingml/2006/main">
            <a:off x="800100" y="1952625"/>
            <a:ext cx="10591800" cy="0"/>
          </a:xfrm>
          <a:prstGeom xmlns:a="http://schemas.openxmlformats.org/drawingml/2006/main" prst="line">
            <a:avLst/>
          </a:prstGeom>
          <a:noFill xmlns:a="http://schemas.openxmlformats.org/drawingml/2006/main"/>
          <a:ln xmlns:a="http://schemas.openxmlformats.org/drawingml/2006/main" w="9525">
            <a:solidFill>
              <a:srgbClr val="E7DDD3"/>
            </a:solidFill>
            <a:prstDash val="solid"/>
          </a:ln>
        </p:spPr>
      </p:sp>
      <p:sp>
        <p:nvSpPr>
          <p:cNvPr id="4" name="">
            <a:extLst xmlns:a="http://schemas.openxmlformats.org/drawingml/2006/main">
              <a:ext uri="{FF2B5EF4-FFF2-40B4-BE49-F238E27FC236}">
                <a16:creationId xmlns:a16="http://schemas.microsoft.com/office/drawing/2014/main" id="{96593C7A-6F54-486B-B96F-70FDC80EE6FF}"/>
              </a:ext>
            </a:extLst>
          </p:cNvPr>
          <p:cNvSpPr>
            <a:spLocks xmlns:a="http://schemas.openxmlformats.org/drawingml/2006/main" noGrp="1"/>
          </p:cNvSpPr>
          <p:nvPr/>
        </p:nvSpPr>
        <p:spPr>
          <a:xfrm xmlns:a="http://schemas.openxmlformats.org/drawingml/2006/main">
            <a:off x="6781800" y="2381250"/>
            <a:ext cx="4476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7654"/>
          </a:bodyPr>
          <a:lstStyle xmlns:a="http://schemas.openxmlformats.org/drawingml/2006/main"/>
          <a:p xmlns:a="http://schemas.openxmlformats.org/drawingml/2006/main">
            <a:pPr algn="r">
              <a:defRPr sz="2025" b="1">
                <a:solidFill>
                  <a:srgbClr val="7E182A"/>
                </a:solidFill>
                <a:latin typeface="Arial"/>
                <a:ea typeface="Arial"/>
                <a:cs typeface="Arial"/>
              </a:defRPr>
            </a:pPr>
            <a:r>
              <a:rPr sz="2025" b="1">
                <a:solidFill>
                  <a:srgbClr val="7E182A"/>
                </a:solidFill>
                <a:latin typeface="Arial"/>
                <a:ea typeface="Arial"/>
                <a:cs typeface="Arial"/>
              </a:rPr>
              <a:t>المستخدمون المستهدفون</a:t>
            </a:r>
          </a:p>
        </p:txBody>
      </p:sp>
      <p:sp>
        <p:nvSpPr>
          <p:cNvPr id="5" name="">
            <a:extLst xmlns:a="http://schemas.openxmlformats.org/drawingml/2006/main">
              <a:ext uri="{FF2B5EF4-FFF2-40B4-BE49-F238E27FC236}">
                <a16:creationId xmlns:a16="http://schemas.microsoft.com/office/drawing/2014/main" id="{CC80E203-C788-457C-9502-E5637AE9D314}"/>
              </a:ext>
            </a:extLst>
          </p:cNvPr>
          <p:cNvSpPr>
            <a:spLocks xmlns:a="http://schemas.openxmlformats.org/drawingml/2006/main" noGrp="1"/>
          </p:cNvSpPr>
          <p:nvPr/>
        </p:nvSpPr>
        <p:spPr>
          <a:xfrm xmlns:a="http://schemas.openxmlformats.org/drawingml/2006/main">
            <a:off x="8524875" y="3076575"/>
            <a:ext cx="27146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4722"/>
          </a:bodyPr>
          <a:lstStyle xmlns:a="http://schemas.openxmlformats.org/drawingml/2006/main"/>
          <a:p xmlns:a="http://schemas.openxmlformats.org/drawingml/2006/main">
            <a:pPr algn="r">
              <a:defRPr sz="1800" b="1">
                <a:solidFill>
                  <a:srgbClr val="231A18"/>
                </a:solidFill>
                <a:latin typeface="Arial"/>
                <a:ea typeface="Arial"/>
                <a:cs typeface="Arial"/>
              </a:defRPr>
            </a:pPr>
            <a:r>
              <a:rPr sz="1800" b="1">
                <a:solidFill>
                  <a:srgbClr val="231A18"/>
                </a:solidFill>
                <a:latin typeface="Arial"/>
                <a:ea typeface="Arial"/>
                <a:cs typeface="Arial"/>
              </a:rPr>
              <a:t>المتسوقون</a:t>
            </a:r>
          </a:p>
        </p:txBody>
      </p:sp>
      <p:sp>
        <p:nvSpPr>
          <p:cNvPr id="6" name="">
            <a:extLst xmlns:a="http://schemas.openxmlformats.org/drawingml/2006/main">
              <a:ext uri="{FF2B5EF4-FFF2-40B4-BE49-F238E27FC236}">
                <a16:creationId xmlns:a16="http://schemas.microsoft.com/office/drawing/2014/main" id="{53B6FD1A-32CA-4D89-8D81-DB1BB61E7E5D}"/>
              </a:ext>
            </a:extLst>
          </p:cNvPr>
          <p:cNvSpPr>
            <a:spLocks xmlns:a="http://schemas.openxmlformats.org/drawingml/2006/main" noGrp="1"/>
          </p:cNvSpPr>
          <p:nvPr/>
        </p:nvSpPr>
        <p:spPr>
          <a:xfrm xmlns:a="http://schemas.openxmlformats.org/drawingml/2006/main">
            <a:off x="6781800" y="3476625"/>
            <a:ext cx="44577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r">
              <a:defRPr sz="1725" b="0">
                <a:solidFill>
                  <a:srgbClr val="786B65"/>
                </a:solidFill>
                <a:latin typeface="Arial"/>
                <a:ea typeface="Arial"/>
                <a:cs typeface="Arial"/>
              </a:defRPr>
            </a:pPr>
            <a:r>
              <a:rPr sz="1725" b="0">
                <a:solidFill>
                  <a:srgbClr val="786B65"/>
                </a:solidFill>
                <a:latin typeface="Arial"/>
                <a:ea typeface="Arial"/>
                <a:cs typeface="Arial"/>
              </a:rPr>
              <a:t>يبحثون عن أزياء ومنتجات محلية</a:t>
            </a:r>
          </a:p>
          <a:p xmlns:a="http://schemas.openxmlformats.org/drawingml/2006/main">
            <a:pPr algn="r">
              <a:defRPr sz="1725" b="0">
                <a:solidFill>
                  <a:srgbClr val="786B65"/>
                </a:solidFill>
                <a:latin typeface="Arial"/>
                <a:ea typeface="Arial"/>
                <a:cs typeface="Arial"/>
              </a:defRPr>
            </a:pPr>
            <a:r>
              <a:rPr sz="1725" b="0">
                <a:solidFill>
                  <a:srgbClr val="786B65"/>
                </a:solidFill>
                <a:latin typeface="Arial"/>
                <a:ea typeface="Arial"/>
                <a:cs typeface="Arial"/>
              </a:rPr>
              <a:t>ضمن تجربة عربية سهلة وواضحة.</a:t>
            </a:r>
          </a:p>
        </p:txBody>
      </p:sp>
      <p:sp>
        <p:nvSpPr>
          <p:cNvPr id="7" name="">
            <a:extLst xmlns:a="http://schemas.openxmlformats.org/drawingml/2006/main">
              <a:ext uri="{FF2B5EF4-FFF2-40B4-BE49-F238E27FC236}">
                <a16:creationId xmlns:a16="http://schemas.microsoft.com/office/drawing/2014/main" id="{B47A7794-F4B8-487F-A7E1-1EAE18857E42}"/>
              </a:ext>
            </a:extLst>
          </p:cNvPr>
          <p:cNvSpPr>
            <a:spLocks xmlns:a="http://schemas.openxmlformats.org/drawingml/2006/main" noGrp="1"/>
          </p:cNvSpPr>
          <p:nvPr/>
        </p:nvSpPr>
        <p:spPr>
          <a:xfrm xmlns:a="http://schemas.openxmlformats.org/drawingml/2006/main">
            <a:off x="8524875" y="4619625"/>
            <a:ext cx="27146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4722"/>
          </a:bodyPr>
          <a:lstStyle xmlns:a="http://schemas.openxmlformats.org/drawingml/2006/main"/>
          <a:p xmlns:a="http://schemas.openxmlformats.org/drawingml/2006/main">
            <a:pPr algn="r">
              <a:defRPr sz="1800" b="1">
                <a:solidFill>
                  <a:srgbClr val="231A18"/>
                </a:solidFill>
                <a:latin typeface="Arial"/>
                <a:ea typeface="Arial"/>
                <a:cs typeface="Arial"/>
              </a:defRPr>
            </a:pPr>
            <a:r>
              <a:rPr sz="1800" b="1">
                <a:solidFill>
                  <a:srgbClr val="231A18"/>
                </a:solidFill>
                <a:latin typeface="Arial"/>
                <a:ea typeface="Arial"/>
                <a:cs typeface="Arial"/>
              </a:rPr>
              <a:t>أصحاب المتاجر</a:t>
            </a:r>
          </a:p>
        </p:txBody>
      </p:sp>
      <p:sp>
        <p:nvSpPr>
          <p:cNvPr id="8" name="">
            <a:extLst xmlns:a="http://schemas.openxmlformats.org/drawingml/2006/main">
              <a:ext uri="{FF2B5EF4-FFF2-40B4-BE49-F238E27FC236}">
                <a16:creationId xmlns:a16="http://schemas.microsoft.com/office/drawing/2014/main" id="{36E7D5EF-48BB-4E00-8B81-3BF028252AFB}"/>
              </a:ext>
            </a:extLst>
          </p:cNvPr>
          <p:cNvSpPr>
            <a:spLocks xmlns:a="http://schemas.openxmlformats.org/drawingml/2006/main" noGrp="1"/>
          </p:cNvSpPr>
          <p:nvPr/>
        </p:nvSpPr>
        <p:spPr>
          <a:xfrm xmlns:a="http://schemas.openxmlformats.org/drawingml/2006/main">
            <a:off x="6781800" y="5019675"/>
            <a:ext cx="44577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r">
              <a:defRPr sz="1725" b="0">
                <a:solidFill>
                  <a:srgbClr val="786B65"/>
                </a:solidFill>
                <a:latin typeface="Arial"/>
                <a:ea typeface="Arial"/>
                <a:cs typeface="Arial"/>
              </a:defRPr>
            </a:pPr>
            <a:r>
              <a:rPr sz="1725" b="0">
                <a:solidFill>
                  <a:srgbClr val="786B65"/>
                </a:solidFill>
                <a:latin typeface="Arial"/>
                <a:ea typeface="Arial"/>
                <a:cs typeface="Arial"/>
              </a:rPr>
              <a:t>متاجر الملابس والإكسسوارات والعطور</a:t>
            </a:r>
          </a:p>
          <a:p xmlns:a="http://schemas.openxmlformats.org/drawingml/2006/main">
            <a:pPr algn="r">
              <a:defRPr sz="1725" b="0">
                <a:solidFill>
                  <a:srgbClr val="786B65"/>
                </a:solidFill>
                <a:latin typeface="Arial"/>
                <a:ea typeface="Arial"/>
                <a:cs typeface="Arial"/>
              </a:defRPr>
            </a:pPr>
            <a:r>
              <a:rPr sz="1725" b="0">
                <a:solidFill>
                  <a:srgbClr val="786B65"/>
                </a:solidFill>
                <a:latin typeface="Arial"/>
                <a:ea typeface="Arial"/>
                <a:cs typeface="Arial"/>
              </a:rPr>
              <a:t>التي تريد وصولًا رقميًا منظمًا.</a:t>
            </a:r>
          </a:p>
        </p:txBody>
      </p:sp>
      <p:sp>
        <p:nvSpPr>
          <p:cNvPr id="9" name="">
            <a:extLst xmlns:a="http://schemas.openxmlformats.org/drawingml/2006/main">
              <a:ext uri="{FF2B5EF4-FFF2-40B4-BE49-F238E27FC236}">
                <a16:creationId xmlns:a16="http://schemas.microsoft.com/office/drawing/2014/main" id="{D90A331D-2144-4645-820C-F84F41A301DC}"/>
              </a:ext>
            </a:extLst>
          </p:cNvPr>
          <p:cNvSpPr>
            <a:spLocks xmlns:a="http://schemas.openxmlformats.org/drawingml/2006/main" noGrp="1"/>
          </p:cNvSpPr>
          <p:nvPr/>
        </p:nvSpPr>
        <p:spPr>
          <a:xfrm xmlns:a="http://schemas.openxmlformats.org/drawingml/2006/main">
            <a:off x="5953125" y="2333625"/>
            <a:ext cx="9525" cy="3524250"/>
          </a:xfrm>
          <a:prstGeom xmlns:a="http://schemas.openxmlformats.org/drawingml/2006/main" prst="rect">
            <a:avLst/>
          </a:prstGeom>
          <a:solidFill xmlns:a="http://schemas.openxmlformats.org/drawingml/2006/main">
            <a:srgbClr val="E7DDD3"/>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1174074D-E98E-410E-A80D-EF947DA9DC08}"/>
              </a:ext>
            </a:extLst>
          </p:cNvPr>
          <p:cNvSpPr>
            <a:spLocks xmlns:a="http://schemas.openxmlformats.org/drawingml/2006/main" noGrp="1"/>
          </p:cNvSpPr>
          <p:nvPr/>
        </p:nvSpPr>
        <p:spPr>
          <a:xfrm xmlns:a="http://schemas.openxmlformats.org/drawingml/2006/main">
            <a:off x="838200" y="2381250"/>
            <a:ext cx="4476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7654"/>
          </a:bodyPr>
          <a:lstStyle xmlns:a="http://schemas.openxmlformats.org/drawingml/2006/main"/>
          <a:p xmlns:a="http://schemas.openxmlformats.org/drawingml/2006/main">
            <a:pPr algn="r">
              <a:defRPr sz="2025" b="1">
                <a:solidFill>
                  <a:srgbClr val="7E182A"/>
                </a:solidFill>
                <a:latin typeface="Arial"/>
                <a:ea typeface="Arial"/>
                <a:cs typeface="Arial"/>
              </a:defRPr>
            </a:pPr>
            <a:r>
              <a:rPr sz="2025" b="1">
                <a:solidFill>
                  <a:srgbClr val="7E182A"/>
                </a:solidFill>
                <a:latin typeface="Arial"/>
                <a:ea typeface="Arial"/>
                <a:cs typeface="Arial"/>
              </a:rPr>
              <a:t>مصادر الدخل المقترحة</a:t>
            </a:r>
          </a:p>
        </p:txBody>
      </p:sp>
      <p:sp>
        <p:nvSpPr>
          <p:cNvPr id="11" name="">
            <a:extLst xmlns:a="http://schemas.openxmlformats.org/drawingml/2006/main">
              <a:ext uri="{FF2B5EF4-FFF2-40B4-BE49-F238E27FC236}">
                <a16:creationId xmlns:a16="http://schemas.microsoft.com/office/drawing/2014/main" id="{359FFD27-7876-450F-8473-08445533C300}"/>
              </a:ext>
            </a:extLst>
          </p:cNvPr>
          <p:cNvSpPr>
            <a:spLocks xmlns:a="http://schemas.openxmlformats.org/drawingml/2006/main" noGrp="1"/>
          </p:cNvSpPr>
          <p:nvPr/>
        </p:nvSpPr>
        <p:spPr>
          <a:xfrm xmlns:a="http://schemas.openxmlformats.org/drawingml/2006/main">
            <a:off x="838200" y="3143250"/>
            <a:ext cx="4476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8194"/>
          </a:bodyPr>
          <a:lstStyle xmlns:a="http://schemas.openxmlformats.org/drawingml/2006/main"/>
          <a:p xmlns:a="http://schemas.openxmlformats.org/drawingml/2006/main">
            <a:pPr algn="r">
              <a:defRPr sz="1800" b="1">
                <a:solidFill>
                  <a:srgbClr val="231A18"/>
                </a:solidFill>
                <a:latin typeface="Arial"/>
                <a:ea typeface="Arial"/>
                <a:cs typeface="Arial"/>
              </a:defRPr>
            </a:pPr>
            <a:r>
              <a:rPr sz="1800" b="1">
                <a:solidFill>
                  <a:srgbClr val="231A18"/>
                </a:solidFill>
                <a:latin typeface="Arial"/>
                <a:ea typeface="Arial"/>
                <a:cs typeface="Arial"/>
              </a:rPr>
              <a:t>عمولة على الطلبات المكتملة</a:t>
            </a:r>
          </a:p>
        </p:txBody>
      </p:sp>
      <p:sp>
        <p:nvSpPr>
          <p:cNvPr id="12" name="">
            <a:extLst xmlns:a="http://schemas.openxmlformats.org/drawingml/2006/main">
              <a:ext uri="{FF2B5EF4-FFF2-40B4-BE49-F238E27FC236}">
                <a16:creationId xmlns:a16="http://schemas.microsoft.com/office/drawing/2014/main" id="{52865DF4-AE6A-43B8-991E-2320647EE24D}"/>
              </a:ext>
            </a:extLst>
          </p:cNvPr>
          <p:cNvSpPr>
            <a:spLocks xmlns:a="http://schemas.openxmlformats.org/drawingml/2006/main" noGrp="1"/>
          </p:cNvSpPr>
          <p:nvPr/>
        </p:nvSpPr>
        <p:spPr>
          <a:xfrm xmlns:a="http://schemas.openxmlformats.org/drawingml/2006/main">
            <a:off x="838200" y="3552825"/>
            <a:ext cx="4476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r">
              <a:defRPr sz="1500" b="0">
                <a:solidFill>
                  <a:srgbClr val="786B65"/>
                </a:solidFill>
                <a:latin typeface="Arial"/>
                <a:ea typeface="Arial"/>
                <a:cs typeface="Arial"/>
              </a:defRPr>
            </a:pPr>
            <a:r>
              <a:rPr sz="1500" b="0">
                <a:solidFill>
                  <a:srgbClr val="786B65"/>
                </a:solidFill>
                <a:latin typeface="Arial"/>
                <a:ea typeface="Arial"/>
                <a:cs typeface="Arial"/>
              </a:rPr>
              <a:t>ترتبط الإيرادات بعمليات بيع حقيقية عبر المنصة.</a:t>
            </a:r>
          </a:p>
        </p:txBody>
      </p:sp>
      <p:sp>
        <p:nvSpPr>
          <p:cNvPr id="13" name="">
            <a:extLst xmlns:a="http://schemas.openxmlformats.org/drawingml/2006/main">
              <a:ext uri="{FF2B5EF4-FFF2-40B4-BE49-F238E27FC236}">
                <a16:creationId xmlns:a16="http://schemas.microsoft.com/office/drawing/2014/main" id="{176C1DCC-029C-4334-8613-90FBAD36F940}"/>
              </a:ext>
            </a:extLst>
          </p:cNvPr>
          <p:cNvSpPr>
            <a:spLocks xmlns:a="http://schemas.openxmlformats.org/drawingml/2006/main" noGrp="1"/>
          </p:cNvSpPr>
          <p:nvPr/>
        </p:nvSpPr>
        <p:spPr>
          <a:xfrm xmlns:a="http://schemas.openxmlformats.org/drawingml/2006/main">
            <a:off x="838200" y="4343400"/>
            <a:ext cx="4476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8194"/>
          </a:bodyPr>
          <a:lstStyle xmlns:a="http://schemas.openxmlformats.org/drawingml/2006/main"/>
          <a:p xmlns:a="http://schemas.openxmlformats.org/drawingml/2006/main">
            <a:pPr algn="r">
              <a:defRPr sz="1800" b="1">
                <a:solidFill>
                  <a:srgbClr val="231A18"/>
                </a:solidFill>
                <a:latin typeface="Arial"/>
                <a:ea typeface="Arial"/>
                <a:cs typeface="Arial"/>
              </a:defRPr>
            </a:pPr>
            <a:r>
              <a:rPr sz="1800" b="1">
                <a:solidFill>
                  <a:srgbClr val="231A18"/>
                </a:solidFill>
                <a:latin typeface="Arial"/>
                <a:ea typeface="Arial"/>
                <a:cs typeface="Arial"/>
              </a:rPr>
              <a:t>ظهور مميّز للمتاجر</a:t>
            </a:r>
          </a:p>
        </p:txBody>
      </p:sp>
      <p:sp>
        <p:nvSpPr>
          <p:cNvPr id="14" name="">
            <a:extLst xmlns:a="http://schemas.openxmlformats.org/drawingml/2006/main">
              <a:ext uri="{FF2B5EF4-FFF2-40B4-BE49-F238E27FC236}">
                <a16:creationId xmlns:a16="http://schemas.microsoft.com/office/drawing/2014/main" id="{993AA986-EAEA-4068-AAA4-7FC7259BF8F7}"/>
              </a:ext>
            </a:extLst>
          </p:cNvPr>
          <p:cNvSpPr>
            <a:spLocks xmlns:a="http://schemas.openxmlformats.org/drawingml/2006/main" noGrp="1"/>
          </p:cNvSpPr>
          <p:nvPr/>
        </p:nvSpPr>
        <p:spPr>
          <a:xfrm xmlns:a="http://schemas.openxmlformats.org/drawingml/2006/main">
            <a:off x="838200" y="4752975"/>
            <a:ext cx="4476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r">
              <a:defRPr sz="1500" b="0">
                <a:solidFill>
                  <a:srgbClr val="786B65"/>
                </a:solidFill>
                <a:latin typeface="Arial"/>
                <a:ea typeface="Arial"/>
                <a:cs typeface="Arial"/>
              </a:defRPr>
            </a:pPr>
            <a:r>
              <a:rPr sz="1500" b="0">
                <a:solidFill>
                  <a:srgbClr val="786B65"/>
                </a:solidFill>
                <a:latin typeface="Arial"/>
                <a:ea typeface="Arial"/>
                <a:cs typeface="Arial"/>
              </a:rPr>
              <a:t>مساحات مدفوعة لعرض متجر أو منتجاته أمام جمهور أكبر.</a:t>
            </a:r>
          </a:p>
        </p:txBody>
      </p:sp>
      <p:sp>
        <p:nvSpPr>
          <p:cNvPr id="15" name="">
            <a:extLst xmlns:a="http://schemas.openxmlformats.org/drawingml/2006/main">
              <a:ext uri="{FF2B5EF4-FFF2-40B4-BE49-F238E27FC236}">
                <a16:creationId xmlns:a16="http://schemas.microsoft.com/office/drawing/2014/main" id="{7365C8B7-837E-43B4-8683-04FA607FBB63}"/>
              </a:ext>
            </a:extLst>
          </p:cNvPr>
          <p:cNvSpPr>
            <a:spLocks xmlns:a="http://schemas.openxmlformats.org/drawingml/2006/main" noGrp="1"/>
          </p:cNvSpPr>
          <p:nvPr/>
        </p:nvSpPr>
        <p:spPr>
          <a:xfrm xmlns:a="http://schemas.openxmlformats.org/drawingml/2006/main">
            <a:off x="838200" y="5572125"/>
            <a:ext cx="4476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8194"/>
          </a:bodyPr>
          <a:lstStyle xmlns:a="http://schemas.openxmlformats.org/drawingml/2006/main"/>
          <a:p xmlns:a="http://schemas.openxmlformats.org/drawingml/2006/main">
            <a:pPr algn="r">
              <a:defRPr sz="1800" b="1">
                <a:solidFill>
                  <a:srgbClr val="231A18"/>
                </a:solidFill>
                <a:latin typeface="Arial"/>
                <a:ea typeface="Arial"/>
                <a:cs typeface="Arial"/>
              </a:defRPr>
            </a:pPr>
            <a:r>
              <a:rPr sz="1800" b="1">
                <a:solidFill>
                  <a:srgbClr val="231A18"/>
                </a:solidFill>
                <a:latin typeface="Arial"/>
                <a:ea typeface="Arial"/>
                <a:cs typeface="Arial"/>
              </a:rPr>
              <a:t>خدمات للمتاجر لاحقًا</a:t>
            </a:r>
          </a:p>
        </p:txBody>
      </p:sp>
      <p:sp>
        <p:nvSpPr>
          <p:cNvPr id="16" name="">
            <a:extLst xmlns:a="http://schemas.openxmlformats.org/drawingml/2006/main">
              <a:ext uri="{FF2B5EF4-FFF2-40B4-BE49-F238E27FC236}">
                <a16:creationId xmlns:a16="http://schemas.microsoft.com/office/drawing/2014/main" id="{D7F4C98F-C11B-4FB4-BA82-19BC3ECFBF3A}"/>
              </a:ext>
            </a:extLst>
          </p:cNvPr>
          <p:cNvSpPr>
            <a:spLocks xmlns:a="http://schemas.openxmlformats.org/drawingml/2006/main" noGrp="1"/>
          </p:cNvSpPr>
          <p:nvPr/>
        </p:nvSpPr>
        <p:spPr>
          <a:xfrm xmlns:a="http://schemas.openxmlformats.org/drawingml/2006/main">
            <a:off x="838200" y="5981700"/>
            <a:ext cx="4476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r">
              <a:defRPr sz="1425" b="0">
                <a:solidFill>
                  <a:srgbClr val="786B65"/>
                </a:solidFill>
                <a:latin typeface="Arial"/>
                <a:ea typeface="Arial"/>
                <a:cs typeface="Arial"/>
              </a:defRPr>
            </a:pPr>
            <a:r>
              <a:rPr sz="1425" b="0">
                <a:solidFill>
                  <a:srgbClr val="786B65"/>
                </a:solidFill>
                <a:latin typeface="Arial"/>
                <a:ea typeface="Arial"/>
                <a:cs typeface="Arial"/>
              </a:rPr>
              <a:t>أدوات إضافية لإدارة العرض وتحليل الأداء عند نضج المنصة.</a:t>
            </a:r>
          </a:p>
        </p:txBody>
      </p:sp>
      <p:sp>
        <p:nvSpPr>
          <p:cNvPr id="17" name="">
            <a:extLst xmlns:a="http://schemas.openxmlformats.org/drawingml/2006/main">
              <a:ext uri="{FF2B5EF4-FFF2-40B4-BE49-F238E27FC236}">
                <a16:creationId xmlns:a16="http://schemas.microsoft.com/office/drawing/2014/main" id="{6DBFD5F3-9358-4613-A656-1264A5240E78}"/>
              </a:ext>
            </a:extLst>
          </p:cNvPr>
          <p:cNvSpPr>
            <a:spLocks xmlns:a="http://schemas.openxmlformats.org/drawingml/2006/main" noGrp="1"/>
          </p:cNvSpPr>
          <p:nvPr/>
        </p:nvSpPr>
        <p:spPr>
          <a:xfrm xmlns:a="http://schemas.openxmlformats.org/drawingml/2006/main">
            <a:off x="685800" y="6381750"/>
            <a:ext cx="1143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5000"/>
          </a:bodyPr>
          <a:lstStyle xmlns:a="http://schemas.openxmlformats.org/drawingml/2006/main"/>
          <a:p xmlns:a="http://schemas.openxmlformats.org/drawingml/2006/main">
            <a:pPr algn="l">
              <a:defRPr sz="1200" b="1">
                <a:solidFill>
                  <a:srgbClr val="786B65"/>
                </a:solidFill>
                <a:latin typeface="Arial"/>
                <a:ea typeface="Arial"/>
                <a:cs typeface="Arial"/>
              </a:defRPr>
            </a:pPr>
            <a:r>
              <a:rPr sz="1200" b="1">
                <a:solidFill>
                  <a:srgbClr val="786B65"/>
                </a:solidFill>
                <a:latin typeface="Arial"/>
                <a:ea typeface="Arial"/>
                <a:cs typeface="Arial"/>
              </a:rPr>
              <a:t>VIORA</a:t>
            </a:r>
          </a:p>
        </p:txBody>
      </p:sp>
      <p:sp>
        <p:nvSpPr>
          <p:cNvPr id="18" name="">
            <a:extLst xmlns:a="http://schemas.openxmlformats.org/drawingml/2006/main">
              <a:ext uri="{FF2B5EF4-FFF2-40B4-BE49-F238E27FC236}">
                <a16:creationId xmlns:a16="http://schemas.microsoft.com/office/drawing/2014/main" id="{7AA9E8A7-30FC-476C-B4B5-E3C563963732}"/>
              </a:ext>
            </a:extLst>
          </p:cNvPr>
          <p:cNvSpPr>
            <a:spLocks xmlns:a="http://schemas.openxmlformats.org/drawingml/2006/main" noGrp="1"/>
          </p:cNvSpPr>
          <p:nvPr/>
        </p:nvSpPr>
        <p:spPr>
          <a:xfrm xmlns:a="http://schemas.openxmlformats.org/drawingml/2006/main">
            <a:off x="10610850" y="6381750"/>
            <a:ext cx="8953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0000"/>
          </a:bodyPr>
          <a:lstStyle xmlns:a="http://schemas.openxmlformats.org/drawingml/2006/main"/>
          <a:p xmlns:a="http://schemas.openxmlformats.org/drawingml/2006/main">
            <a:pPr algn="r">
              <a:defRPr sz="1125" b="0">
                <a:solidFill>
                  <a:srgbClr val="786B65"/>
                </a:solidFill>
                <a:latin typeface="Arial"/>
                <a:ea typeface="Arial"/>
                <a:cs typeface="Arial"/>
              </a:defRPr>
            </a:pPr>
            <a:r>
              <a:rPr sz="1125" b="0">
                <a:solidFill>
                  <a:srgbClr val="786B65"/>
                </a:solidFill>
                <a:latin typeface="Arial"/>
                <a:ea typeface="Arial"/>
                <a:cs typeface="Arial"/>
              </a:rPr>
              <a:t>04</a:t>
            </a:r>
          </a:p>
        </p:txBody>
      </p:sp>
    </p:spTree>
    <p:extLst>
      <p:ext uri="{BB962C8B-B14F-4D97-AF65-F5344CB8AC3E}">
        <p14:creationId xmlns:p14="http://schemas.microsoft.com/office/powerpoint/2010/main" val="1676889228"/>
      </p:ext>
    </p:extLst>
  </p:cSld>
</p:sld>
</file>

<file path=ppt/slides/slide5.xml><?xml version="1.0" encoding="utf-8"?>
<p:sld xmlns:p="http://schemas.openxmlformats.org/presentationml/2006/main">
  <p:cSld>
    <p:bg>
      <p:bgPr>
        <a:solidFill xmlns:a="http://schemas.openxmlformats.org/drawingml/2006/main">
          <a:srgbClr val="FBF8F3"/>
        </a:solidFill>
      </p:bgPr>
    </p:bg>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8B2A3C0E-5996-4FCF-95C8-F7DCF59FB6BE}"/>
              </a:ext>
            </a:extLst>
          </p:cNvPr>
          <p:cNvSpPr>
            <a:spLocks xmlns:a="http://schemas.openxmlformats.org/drawingml/2006/main" noGrp="1"/>
          </p:cNvSpPr>
          <p:nvPr/>
        </p:nvSpPr>
        <p:spPr>
          <a:xfrm xmlns:a="http://schemas.openxmlformats.org/drawingml/2006/main">
            <a:off x="800100" y="552450"/>
            <a:ext cx="105918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2063"/>
          </a:bodyPr>
          <a:lstStyle xmlns:a="http://schemas.openxmlformats.org/drawingml/2006/main"/>
          <a:p xmlns:a="http://schemas.openxmlformats.org/drawingml/2006/main">
            <a:pPr algn="r">
              <a:defRPr sz="3150" b="1">
                <a:solidFill>
                  <a:srgbClr val="231A18"/>
                </a:solidFill>
                <a:latin typeface="Arial"/>
                <a:ea typeface="Arial"/>
                <a:cs typeface="Arial"/>
              </a:defRPr>
            </a:pPr>
            <a:r>
              <a:rPr sz="3150" b="1">
                <a:solidFill>
                  <a:srgbClr val="231A18"/>
                </a:solidFill>
                <a:latin typeface="Arial"/>
                <a:ea typeface="Arial"/>
                <a:cs typeface="Arial"/>
              </a:rPr>
              <a:t>الإنجاز حتى الآن</a:t>
            </a:r>
          </a:p>
        </p:txBody>
      </p:sp>
      <p:sp>
        <p:nvSpPr>
          <p:cNvPr id="2" name="">
            <a:extLst xmlns:a="http://schemas.openxmlformats.org/drawingml/2006/main">
              <a:ext uri="{FF2B5EF4-FFF2-40B4-BE49-F238E27FC236}">
                <a16:creationId xmlns:a16="http://schemas.microsoft.com/office/drawing/2014/main" id="{9F2A93DB-69EC-40A6-A718-3AE449E470E4}"/>
              </a:ext>
            </a:extLst>
          </p:cNvPr>
          <p:cNvSpPr>
            <a:spLocks xmlns:a="http://schemas.openxmlformats.org/drawingml/2006/main" noGrp="1"/>
          </p:cNvSpPr>
          <p:nvPr/>
        </p:nvSpPr>
        <p:spPr>
          <a:xfrm xmlns:a="http://schemas.openxmlformats.org/drawingml/2006/main">
            <a:off x="800100" y="1219200"/>
            <a:ext cx="10591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r">
              <a:defRPr sz="1800" b="0">
                <a:solidFill>
                  <a:srgbClr val="786B65"/>
                </a:solidFill>
                <a:latin typeface="Arial"/>
                <a:ea typeface="Arial"/>
                <a:cs typeface="Arial"/>
              </a:defRPr>
            </a:pPr>
            <a:r>
              <a:rPr sz="1800" b="0">
                <a:solidFill>
                  <a:srgbClr val="786B65"/>
                </a:solidFill>
                <a:latin typeface="Arial"/>
                <a:ea typeface="Arial"/>
                <a:cs typeface="Arial"/>
              </a:rPr>
              <a:t>تحويل الفكرة إلى واجهة عميل متكاملة ومتصلة بواجهات API.</a:t>
            </a:r>
          </a:p>
        </p:txBody>
      </p:sp>
      <p:sp>
        <p:nvSpPr>
          <p:cNvPr id="3" name="">
            <a:extLst xmlns:a="http://schemas.openxmlformats.org/drawingml/2006/main">
              <a:ext uri="{FF2B5EF4-FFF2-40B4-BE49-F238E27FC236}">
                <a16:creationId xmlns:a16="http://schemas.microsoft.com/office/drawing/2014/main" id="{23F97871-8D3E-4069-BC6B-57B029FDB48B}"/>
              </a:ext>
            </a:extLst>
          </p:cNvPr>
          <p:cNvSpPr>
            <a:spLocks xmlns:a="http://schemas.openxmlformats.org/drawingml/2006/main" noGrp="1"/>
          </p:cNvSpPr>
          <p:nvPr/>
        </p:nvSpPr>
        <p:spPr>
          <a:xfrm xmlns:a="http://schemas.openxmlformats.org/drawingml/2006/main">
            <a:off x="1714500" y="2000250"/>
            <a:ext cx="28575" cy="3619500"/>
          </a:xfrm>
          <a:prstGeom xmlns:a="http://schemas.openxmlformats.org/drawingml/2006/main" prst="rect">
            <a:avLst/>
          </a:prstGeom>
          <a:solidFill xmlns:a="http://schemas.openxmlformats.org/drawingml/2006/main">
            <a:srgbClr val="7E182A"/>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0FCEA9BF-1DFE-4B91-BE56-E4A1BEFF7728}"/>
              </a:ext>
            </a:extLst>
          </p:cNvPr>
          <p:cNvSpPr>
            <a:spLocks xmlns:a="http://schemas.openxmlformats.org/drawingml/2006/main" noGrp="1"/>
          </p:cNvSpPr>
          <p:nvPr/>
        </p:nvSpPr>
        <p:spPr>
          <a:xfrm xmlns:a="http://schemas.openxmlformats.org/drawingml/2006/main">
            <a:off x="1552575" y="2085975"/>
            <a:ext cx="361950" cy="361950"/>
          </a:xfrm>
          <a:prstGeom xmlns:a="http://schemas.openxmlformats.org/drawingml/2006/main" prst="roundRect">
            <a:avLst>
              <a:gd name="adj" fmla="val 50000"/>
            </a:avLst>
          </a:prstGeom>
          <a:solidFill xmlns:a="http://schemas.openxmlformats.org/drawingml/2006/main">
            <a:srgbClr val="7E182A"/>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33D85B65-665F-4571-9BC2-B8EE8B3B36C0}"/>
              </a:ext>
            </a:extLst>
          </p:cNvPr>
          <p:cNvSpPr>
            <a:spLocks xmlns:a="http://schemas.openxmlformats.org/drawingml/2006/main" noGrp="1"/>
          </p:cNvSpPr>
          <p:nvPr/>
        </p:nvSpPr>
        <p:spPr>
          <a:xfrm xmlns:a="http://schemas.openxmlformats.org/drawingml/2006/main">
            <a:off x="1552575" y="2085975"/>
            <a:ext cx="3619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275" b="1">
                <a:solidFill>
                  <a:srgbClr val="FFFFFF"/>
                </a:solidFill>
                <a:latin typeface="Arial"/>
                <a:ea typeface="Arial"/>
                <a:cs typeface="Arial"/>
              </a:defRPr>
            </a:pPr>
            <a:r>
              <a:rPr sz="1275" b="1">
                <a:solidFill>
                  <a:srgbClr val="FFFFFF"/>
                </a:solidFill>
                <a:latin typeface="Arial"/>
                <a:ea typeface="Arial"/>
                <a:cs typeface="Arial"/>
              </a:rPr>
              <a:t>1</a:t>
            </a:r>
          </a:p>
        </p:txBody>
      </p:sp>
      <p:sp>
        <p:nvSpPr>
          <p:cNvPr id="6" name="">
            <a:extLst xmlns:a="http://schemas.openxmlformats.org/drawingml/2006/main">
              <a:ext uri="{FF2B5EF4-FFF2-40B4-BE49-F238E27FC236}">
                <a16:creationId xmlns:a16="http://schemas.microsoft.com/office/drawing/2014/main" id="{EBF72F2E-4D59-450A-89D2-E4C75B725A46}"/>
              </a:ext>
            </a:extLst>
          </p:cNvPr>
          <p:cNvSpPr>
            <a:spLocks xmlns:a="http://schemas.openxmlformats.org/drawingml/2006/main" noGrp="1"/>
          </p:cNvSpPr>
          <p:nvPr/>
        </p:nvSpPr>
        <p:spPr>
          <a:xfrm xmlns:a="http://schemas.openxmlformats.org/drawingml/2006/main">
            <a:off x="2381250" y="2000250"/>
            <a:ext cx="8096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1410"/>
          </a:bodyPr>
          <a:lstStyle xmlns:a="http://schemas.openxmlformats.org/drawingml/2006/main"/>
          <a:p xmlns:a="http://schemas.openxmlformats.org/drawingml/2006/main">
            <a:pPr algn="r">
              <a:defRPr sz="1950" b="1">
                <a:solidFill>
                  <a:srgbClr val="231A18"/>
                </a:solidFill>
                <a:latin typeface="Arial"/>
                <a:ea typeface="Arial"/>
                <a:cs typeface="Arial"/>
              </a:defRPr>
            </a:pPr>
            <a:r>
              <a:rPr sz="1950" b="1">
                <a:solidFill>
                  <a:srgbClr val="231A18"/>
                </a:solidFill>
                <a:latin typeface="Arial"/>
                <a:ea typeface="Arial"/>
                <a:cs typeface="Arial"/>
              </a:rPr>
              <a:t>هوية وتجربة عربية</a:t>
            </a:r>
          </a:p>
        </p:txBody>
      </p:sp>
      <p:sp>
        <p:nvSpPr>
          <p:cNvPr id="7" name="">
            <a:extLst xmlns:a="http://schemas.openxmlformats.org/drawingml/2006/main">
              <a:ext uri="{FF2B5EF4-FFF2-40B4-BE49-F238E27FC236}">
                <a16:creationId xmlns:a16="http://schemas.microsoft.com/office/drawing/2014/main" id="{6C5E3551-8D98-4F08-A3B1-D0819BFE3323}"/>
              </a:ext>
            </a:extLst>
          </p:cNvPr>
          <p:cNvSpPr>
            <a:spLocks xmlns:a="http://schemas.openxmlformats.org/drawingml/2006/main" noGrp="1"/>
          </p:cNvSpPr>
          <p:nvPr/>
        </p:nvSpPr>
        <p:spPr>
          <a:xfrm xmlns:a="http://schemas.openxmlformats.org/drawingml/2006/main">
            <a:off x="2381250" y="2400300"/>
            <a:ext cx="80962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9167"/>
          </a:bodyPr>
          <a:lstStyle xmlns:a="http://schemas.openxmlformats.org/drawingml/2006/main"/>
          <a:p xmlns:a="http://schemas.openxmlformats.org/drawingml/2006/main">
            <a:pPr algn="r">
              <a:defRPr sz="1500" b="0">
                <a:solidFill>
                  <a:srgbClr val="786B65"/>
                </a:solidFill>
                <a:latin typeface="Arial"/>
                <a:ea typeface="Arial"/>
                <a:cs typeface="Arial"/>
              </a:defRPr>
            </a:pPr>
            <a:r>
              <a:rPr sz="1500" b="0">
                <a:solidFill>
                  <a:srgbClr val="786B65"/>
                </a:solidFill>
                <a:latin typeface="Arial"/>
                <a:ea typeface="Arial"/>
                <a:cs typeface="Arial"/>
              </a:rPr>
              <a:t>واجهة RTL متجاوبة وهوية برغندية موحّدة.</a:t>
            </a:r>
          </a:p>
        </p:txBody>
      </p:sp>
      <p:sp>
        <p:nvSpPr>
          <p:cNvPr id="8" name="">
            <a:extLst xmlns:a="http://schemas.openxmlformats.org/drawingml/2006/main">
              <a:ext uri="{FF2B5EF4-FFF2-40B4-BE49-F238E27FC236}">
                <a16:creationId xmlns:a16="http://schemas.microsoft.com/office/drawing/2014/main" id="{E2FF36AA-CD0D-4B3C-98F9-F9FEB915E780}"/>
              </a:ext>
            </a:extLst>
          </p:cNvPr>
          <p:cNvSpPr>
            <a:spLocks xmlns:a="http://schemas.openxmlformats.org/drawingml/2006/main" noGrp="1"/>
          </p:cNvSpPr>
          <p:nvPr/>
        </p:nvSpPr>
        <p:spPr>
          <a:xfrm xmlns:a="http://schemas.openxmlformats.org/drawingml/2006/main">
            <a:off x="1552575" y="2990850"/>
            <a:ext cx="361950" cy="361950"/>
          </a:xfrm>
          <a:prstGeom xmlns:a="http://schemas.openxmlformats.org/drawingml/2006/main" prst="roundRect">
            <a:avLst>
              <a:gd name="adj" fmla="val 50000"/>
            </a:avLst>
          </a:prstGeom>
          <a:solidFill xmlns:a="http://schemas.openxmlformats.org/drawingml/2006/main">
            <a:srgbClr val="7E182A"/>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9607BBBB-EE96-4DA4-8E2D-945FC2EC3E9C}"/>
              </a:ext>
            </a:extLst>
          </p:cNvPr>
          <p:cNvSpPr>
            <a:spLocks xmlns:a="http://schemas.openxmlformats.org/drawingml/2006/main" noGrp="1"/>
          </p:cNvSpPr>
          <p:nvPr/>
        </p:nvSpPr>
        <p:spPr>
          <a:xfrm xmlns:a="http://schemas.openxmlformats.org/drawingml/2006/main">
            <a:off x="1552575" y="2990850"/>
            <a:ext cx="3619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275" b="1">
                <a:solidFill>
                  <a:srgbClr val="FFFFFF"/>
                </a:solidFill>
                <a:latin typeface="Arial"/>
                <a:ea typeface="Arial"/>
                <a:cs typeface="Arial"/>
              </a:defRPr>
            </a:pPr>
            <a:r>
              <a:rPr sz="1275" b="1">
                <a:solidFill>
                  <a:srgbClr val="FFFFFF"/>
                </a:solidFill>
                <a:latin typeface="Arial"/>
                <a:ea typeface="Arial"/>
                <a:cs typeface="Arial"/>
              </a:rPr>
              <a:t>2</a:t>
            </a:r>
          </a:p>
        </p:txBody>
      </p:sp>
      <p:sp>
        <p:nvSpPr>
          <p:cNvPr id="10" name="">
            <a:extLst xmlns:a="http://schemas.openxmlformats.org/drawingml/2006/main">
              <a:ext uri="{FF2B5EF4-FFF2-40B4-BE49-F238E27FC236}">
                <a16:creationId xmlns:a16="http://schemas.microsoft.com/office/drawing/2014/main" id="{9852789E-B203-4D40-9F8C-0E9CDE1BFE0D}"/>
              </a:ext>
            </a:extLst>
          </p:cNvPr>
          <p:cNvSpPr>
            <a:spLocks xmlns:a="http://schemas.openxmlformats.org/drawingml/2006/main" noGrp="1"/>
          </p:cNvSpPr>
          <p:nvPr/>
        </p:nvSpPr>
        <p:spPr>
          <a:xfrm xmlns:a="http://schemas.openxmlformats.org/drawingml/2006/main">
            <a:off x="2381250" y="2905125"/>
            <a:ext cx="8096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1410"/>
          </a:bodyPr>
          <a:lstStyle xmlns:a="http://schemas.openxmlformats.org/drawingml/2006/main"/>
          <a:p xmlns:a="http://schemas.openxmlformats.org/drawingml/2006/main">
            <a:pPr algn="r">
              <a:defRPr sz="1950" b="1">
                <a:solidFill>
                  <a:srgbClr val="231A18"/>
                </a:solidFill>
                <a:latin typeface="Arial"/>
                <a:ea typeface="Arial"/>
                <a:cs typeface="Arial"/>
              </a:defRPr>
            </a:pPr>
            <a:r>
              <a:rPr sz="1950" b="1">
                <a:solidFill>
                  <a:srgbClr val="231A18"/>
                </a:solidFill>
                <a:latin typeface="Arial"/>
                <a:ea typeface="Arial"/>
                <a:cs typeface="Arial"/>
              </a:rPr>
              <a:t>اكتشاف المنتجات والمتاجر</a:t>
            </a:r>
          </a:p>
        </p:txBody>
      </p:sp>
      <p:sp>
        <p:nvSpPr>
          <p:cNvPr id="11" name="">
            <a:extLst xmlns:a="http://schemas.openxmlformats.org/drawingml/2006/main">
              <a:ext uri="{FF2B5EF4-FFF2-40B4-BE49-F238E27FC236}">
                <a16:creationId xmlns:a16="http://schemas.microsoft.com/office/drawing/2014/main" id="{34C83620-6B3D-4C9E-9E92-659E90F41973}"/>
              </a:ext>
            </a:extLst>
          </p:cNvPr>
          <p:cNvSpPr>
            <a:spLocks xmlns:a="http://schemas.openxmlformats.org/drawingml/2006/main" noGrp="1"/>
          </p:cNvSpPr>
          <p:nvPr/>
        </p:nvSpPr>
        <p:spPr>
          <a:xfrm xmlns:a="http://schemas.openxmlformats.org/drawingml/2006/main">
            <a:off x="2381250" y="3305175"/>
            <a:ext cx="80962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9167"/>
          </a:bodyPr>
          <a:lstStyle xmlns:a="http://schemas.openxmlformats.org/drawingml/2006/main"/>
          <a:p xmlns:a="http://schemas.openxmlformats.org/drawingml/2006/main">
            <a:pPr algn="r">
              <a:defRPr sz="1500" b="0">
                <a:solidFill>
                  <a:srgbClr val="786B65"/>
                </a:solidFill>
                <a:latin typeface="Arial"/>
                <a:ea typeface="Arial"/>
                <a:cs typeface="Arial"/>
              </a:defRPr>
            </a:pPr>
            <a:r>
              <a:rPr sz="1500" b="0">
                <a:solidFill>
                  <a:srgbClr val="786B65"/>
                </a:solidFill>
                <a:latin typeface="Arial"/>
                <a:ea typeface="Arial"/>
                <a:cs typeface="Arial"/>
              </a:rPr>
              <a:t>تصنيفات، بحث، فلترة، صفحات قوائم وتفاصيل.</a:t>
            </a:r>
          </a:p>
        </p:txBody>
      </p:sp>
      <p:sp>
        <p:nvSpPr>
          <p:cNvPr id="12" name="">
            <a:extLst xmlns:a="http://schemas.openxmlformats.org/drawingml/2006/main">
              <a:ext uri="{FF2B5EF4-FFF2-40B4-BE49-F238E27FC236}">
                <a16:creationId xmlns:a16="http://schemas.microsoft.com/office/drawing/2014/main" id="{6C99B26E-218D-42E4-994D-B1CC2AA365F1}"/>
              </a:ext>
            </a:extLst>
          </p:cNvPr>
          <p:cNvSpPr>
            <a:spLocks xmlns:a="http://schemas.openxmlformats.org/drawingml/2006/main" noGrp="1"/>
          </p:cNvSpPr>
          <p:nvPr/>
        </p:nvSpPr>
        <p:spPr>
          <a:xfrm xmlns:a="http://schemas.openxmlformats.org/drawingml/2006/main">
            <a:off x="1552575" y="3895725"/>
            <a:ext cx="361950" cy="361950"/>
          </a:xfrm>
          <a:prstGeom xmlns:a="http://schemas.openxmlformats.org/drawingml/2006/main" prst="roundRect">
            <a:avLst>
              <a:gd name="adj" fmla="val 50000"/>
            </a:avLst>
          </a:prstGeom>
          <a:solidFill xmlns:a="http://schemas.openxmlformats.org/drawingml/2006/main">
            <a:srgbClr val="7E182A"/>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2A8FAB64-4AC1-4E62-980B-6E82058694E4}"/>
              </a:ext>
            </a:extLst>
          </p:cNvPr>
          <p:cNvSpPr>
            <a:spLocks xmlns:a="http://schemas.openxmlformats.org/drawingml/2006/main" noGrp="1"/>
          </p:cNvSpPr>
          <p:nvPr/>
        </p:nvSpPr>
        <p:spPr>
          <a:xfrm xmlns:a="http://schemas.openxmlformats.org/drawingml/2006/main">
            <a:off x="1552575" y="3895725"/>
            <a:ext cx="3619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275" b="1">
                <a:solidFill>
                  <a:srgbClr val="FFFFFF"/>
                </a:solidFill>
                <a:latin typeface="Arial"/>
                <a:ea typeface="Arial"/>
                <a:cs typeface="Arial"/>
              </a:defRPr>
            </a:pPr>
            <a:r>
              <a:rPr sz="1275" b="1">
                <a:solidFill>
                  <a:srgbClr val="FFFFFF"/>
                </a:solidFill>
                <a:latin typeface="Arial"/>
                <a:ea typeface="Arial"/>
                <a:cs typeface="Arial"/>
              </a:rPr>
              <a:t>3</a:t>
            </a:r>
          </a:p>
        </p:txBody>
      </p:sp>
      <p:sp>
        <p:nvSpPr>
          <p:cNvPr id="14" name="">
            <a:extLst xmlns:a="http://schemas.openxmlformats.org/drawingml/2006/main">
              <a:ext uri="{FF2B5EF4-FFF2-40B4-BE49-F238E27FC236}">
                <a16:creationId xmlns:a16="http://schemas.microsoft.com/office/drawing/2014/main" id="{55205F56-1D11-47CB-A2C7-1B68B633B47B}"/>
              </a:ext>
            </a:extLst>
          </p:cNvPr>
          <p:cNvSpPr>
            <a:spLocks xmlns:a="http://schemas.openxmlformats.org/drawingml/2006/main" noGrp="1"/>
          </p:cNvSpPr>
          <p:nvPr/>
        </p:nvSpPr>
        <p:spPr>
          <a:xfrm xmlns:a="http://schemas.openxmlformats.org/drawingml/2006/main">
            <a:off x="2381250" y="3810000"/>
            <a:ext cx="8096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1410"/>
          </a:bodyPr>
          <a:lstStyle xmlns:a="http://schemas.openxmlformats.org/drawingml/2006/main"/>
          <a:p xmlns:a="http://schemas.openxmlformats.org/drawingml/2006/main">
            <a:pPr algn="r">
              <a:defRPr sz="1950" b="1">
                <a:solidFill>
                  <a:srgbClr val="231A18"/>
                </a:solidFill>
                <a:latin typeface="Arial"/>
                <a:ea typeface="Arial"/>
                <a:cs typeface="Arial"/>
              </a:defRPr>
            </a:pPr>
            <a:r>
              <a:rPr sz="1950" b="1">
                <a:solidFill>
                  <a:srgbClr val="231A18"/>
                </a:solidFill>
                <a:latin typeface="Arial"/>
                <a:ea typeface="Arial"/>
                <a:cs typeface="Arial"/>
              </a:rPr>
              <a:t>رحلة العميل</a:t>
            </a:r>
          </a:p>
        </p:txBody>
      </p:sp>
      <p:sp>
        <p:nvSpPr>
          <p:cNvPr id="15" name="">
            <a:extLst xmlns:a="http://schemas.openxmlformats.org/drawingml/2006/main">
              <a:ext uri="{FF2B5EF4-FFF2-40B4-BE49-F238E27FC236}">
                <a16:creationId xmlns:a16="http://schemas.microsoft.com/office/drawing/2014/main" id="{12A22123-2931-453D-9F9E-1DDF65AB88F2}"/>
              </a:ext>
            </a:extLst>
          </p:cNvPr>
          <p:cNvSpPr>
            <a:spLocks xmlns:a="http://schemas.openxmlformats.org/drawingml/2006/main" noGrp="1"/>
          </p:cNvSpPr>
          <p:nvPr/>
        </p:nvSpPr>
        <p:spPr>
          <a:xfrm xmlns:a="http://schemas.openxmlformats.org/drawingml/2006/main">
            <a:off x="2381250" y="4210050"/>
            <a:ext cx="80962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9167"/>
          </a:bodyPr>
          <a:lstStyle xmlns:a="http://schemas.openxmlformats.org/drawingml/2006/main"/>
          <a:p xmlns:a="http://schemas.openxmlformats.org/drawingml/2006/main">
            <a:pPr algn="r">
              <a:defRPr sz="1500" b="0">
                <a:solidFill>
                  <a:srgbClr val="786B65"/>
                </a:solidFill>
                <a:latin typeface="Arial"/>
                <a:ea typeface="Arial"/>
                <a:cs typeface="Arial"/>
              </a:defRPr>
            </a:pPr>
            <a:r>
              <a:rPr sz="1500" b="0">
                <a:solidFill>
                  <a:srgbClr val="786B65"/>
                </a:solidFill>
                <a:latin typeface="Arial"/>
                <a:ea typeface="Arial"/>
                <a:cs typeface="Arial"/>
              </a:rPr>
              <a:t>تسجيل دخول، مفضلة، سلة، عناوين، وطلب عند الاستلام.</a:t>
            </a:r>
          </a:p>
        </p:txBody>
      </p:sp>
      <p:sp>
        <p:nvSpPr>
          <p:cNvPr id="16" name="">
            <a:extLst xmlns:a="http://schemas.openxmlformats.org/drawingml/2006/main">
              <a:ext uri="{FF2B5EF4-FFF2-40B4-BE49-F238E27FC236}">
                <a16:creationId xmlns:a16="http://schemas.microsoft.com/office/drawing/2014/main" id="{2D955FAA-9F75-4639-A01F-3876A4C8AAE6}"/>
              </a:ext>
            </a:extLst>
          </p:cNvPr>
          <p:cNvSpPr>
            <a:spLocks xmlns:a="http://schemas.openxmlformats.org/drawingml/2006/main" noGrp="1"/>
          </p:cNvSpPr>
          <p:nvPr/>
        </p:nvSpPr>
        <p:spPr>
          <a:xfrm xmlns:a="http://schemas.openxmlformats.org/drawingml/2006/main">
            <a:off x="1552575" y="4800600"/>
            <a:ext cx="361950" cy="361950"/>
          </a:xfrm>
          <a:prstGeom xmlns:a="http://schemas.openxmlformats.org/drawingml/2006/main" prst="roundRect">
            <a:avLst>
              <a:gd name="adj" fmla="val 50000"/>
            </a:avLst>
          </a:prstGeom>
          <a:solidFill xmlns:a="http://schemas.openxmlformats.org/drawingml/2006/main">
            <a:srgbClr val="7E182A"/>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5AECAE8F-B4F9-464A-A320-98640E3586ED}"/>
              </a:ext>
            </a:extLst>
          </p:cNvPr>
          <p:cNvSpPr>
            <a:spLocks xmlns:a="http://schemas.openxmlformats.org/drawingml/2006/main" noGrp="1"/>
          </p:cNvSpPr>
          <p:nvPr/>
        </p:nvSpPr>
        <p:spPr>
          <a:xfrm xmlns:a="http://schemas.openxmlformats.org/drawingml/2006/main">
            <a:off x="1552575" y="4800600"/>
            <a:ext cx="3619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275" b="1">
                <a:solidFill>
                  <a:srgbClr val="FFFFFF"/>
                </a:solidFill>
                <a:latin typeface="Arial"/>
                <a:ea typeface="Arial"/>
                <a:cs typeface="Arial"/>
              </a:defRPr>
            </a:pPr>
            <a:r>
              <a:rPr sz="1275" b="1">
                <a:solidFill>
                  <a:srgbClr val="FFFFFF"/>
                </a:solidFill>
                <a:latin typeface="Arial"/>
                <a:ea typeface="Arial"/>
                <a:cs typeface="Arial"/>
              </a:rPr>
              <a:t>4</a:t>
            </a:r>
          </a:p>
        </p:txBody>
      </p:sp>
      <p:sp>
        <p:nvSpPr>
          <p:cNvPr id="18" name="">
            <a:extLst xmlns:a="http://schemas.openxmlformats.org/drawingml/2006/main">
              <a:ext uri="{FF2B5EF4-FFF2-40B4-BE49-F238E27FC236}">
                <a16:creationId xmlns:a16="http://schemas.microsoft.com/office/drawing/2014/main" id="{672705CB-0101-4540-8D3C-E499900DDAC2}"/>
              </a:ext>
            </a:extLst>
          </p:cNvPr>
          <p:cNvSpPr>
            <a:spLocks xmlns:a="http://schemas.openxmlformats.org/drawingml/2006/main" noGrp="1"/>
          </p:cNvSpPr>
          <p:nvPr/>
        </p:nvSpPr>
        <p:spPr>
          <a:xfrm xmlns:a="http://schemas.openxmlformats.org/drawingml/2006/main">
            <a:off x="2381250" y="4714875"/>
            <a:ext cx="8096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1410"/>
          </a:bodyPr>
          <a:lstStyle xmlns:a="http://schemas.openxmlformats.org/drawingml/2006/main"/>
          <a:p xmlns:a="http://schemas.openxmlformats.org/drawingml/2006/main">
            <a:pPr algn="r">
              <a:defRPr sz="1950" b="1">
                <a:solidFill>
                  <a:srgbClr val="231A18"/>
                </a:solidFill>
                <a:latin typeface="Arial"/>
                <a:ea typeface="Arial"/>
                <a:cs typeface="Arial"/>
              </a:defRPr>
            </a:pPr>
            <a:r>
              <a:rPr sz="1950" b="1">
                <a:solidFill>
                  <a:srgbClr val="231A18"/>
                </a:solidFill>
                <a:latin typeface="Arial"/>
                <a:ea typeface="Arial"/>
                <a:cs typeface="Arial"/>
              </a:rPr>
              <a:t>بعد الطلب</a:t>
            </a:r>
          </a:p>
        </p:txBody>
      </p:sp>
      <p:sp>
        <p:nvSpPr>
          <p:cNvPr id="19" name="">
            <a:extLst xmlns:a="http://schemas.openxmlformats.org/drawingml/2006/main">
              <a:ext uri="{FF2B5EF4-FFF2-40B4-BE49-F238E27FC236}">
                <a16:creationId xmlns:a16="http://schemas.microsoft.com/office/drawing/2014/main" id="{263BC65B-E1AE-468D-BFB7-A6489C890645}"/>
              </a:ext>
            </a:extLst>
          </p:cNvPr>
          <p:cNvSpPr>
            <a:spLocks xmlns:a="http://schemas.openxmlformats.org/drawingml/2006/main" noGrp="1"/>
          </p:cNvSpPr>
          <p:nvPr/>
        </p:nvSpPr>
        <p:spPr>
          <a:xfrm xmlns:a="http://schemas.openxmlformats.org/drawingml/2006/main">
            <a:off x="2381250" y="5114925"/>
            <a:ext cx="80962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9167"/>
          </a:bodyPr>
          <a:lstStyle xmlns:a="http://schemas.openxmlformats.org/drawingml/2006/main"/>
          <a:p xmlns:a="http://schemas.openxmlformats.org/drawingml/2006/main">
            <a:pPr algn="r">
              <a:defRPr sz="1500" b="0">
                <a:solidFill>
                  <a:srgbClr val="786B65"/>
                </a:solidFill>
                <a:latin typeface="Arial"/>
                <a:ea typeface="Arial"/>
                <a:cs typeface="Arial"/>
              </a:defRPr>
            </a:pPr>
            <a:r>
              <a:rPr sz="1500" b="0">
                <a:solidFill>
                  <a:srgbClr val="786B65"/>
                </a:solidFill>
                <a:latin typeface="Arial"/>
                <a:ea typeface="Arial"/>
                <a:cs typeface="Arial"/>
              </a:rPr>
              <a:t>ملف شخصي، سجل طلبات، تفاصيل الطلب وإشعارات.</a:t>
            </a:r>
          </a:p>
        </p:txBody>
      </p:sp>
      <p:sp>
        <p:nvSpPr>
          <p:cNvPr id="20" name="">
            <a:extLst xmlns:a="http://schemas.openxmlformats.org/drawingml/2006/main">
              <a:ext uri="{FF2B5EF4-FFF2-40B4-BE49-F238E27FC236}">
                <a16:creationId xmlns:a16="http://schemas.microsoft.com/office/drawing/2014/main" id="{6579A675-EB1D-40B5-96AD-618C36E50732}"/>
              </a:ext>
            </a:extLst>
          </p:cNvPr>
          <p:cNvSpPr>
            <a:spLocks xmlns:a="http://schemas.openxmlformats.org/drawingml/2006/main" noGrp="1"/>
          </p:cNvSpPr>
          <p:nvPr/>
        </p:nvSpPr>
        <p:spPr>
          <a:xfrm xmlns:a="http://schemas.openxmlformats.org/drawingml/2006/main">
            <a:off x="800100" y="5905500"/>
            <a:ext cx="10591800" cy="9525"/>
          </a:xfrm>
          <a:prstGeom xmlns:a="http://schemas.openxmlformats.org/drawingml/2006/main" prst="rect">
            <a:avLst/>
          </a:prstGeom>
          <a:solidFill xmlns:a="http://schemas.openxmlformats.org/drawingml/2006/main">
            <a:srgbClr val="E7DDD3"/>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23B7388B-775A-49F3-9955-A7ACE9ECD3E5}"/>
              </a:ext>
            </a:extLst>
          </p:cNvPr>
          <p:cNvSpPr>
            <a:spLocks xmlns:a="http://schemas.openxmlformats.org/drawingml/2006/main" noGrp="1"/>
          </p:cNvSpPr>
          <p:nvPr/>
        </p:nvSpPr>
        <p:spPr>
          <a:xfrm xmlns:a="http://schemas.openxmlformats.org/drawingml/2006/main">
            <a:off x="800100" y="6076950"/>
            <a:ext cx="105918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r">
              <a:defRPr sz="1650" b="1">
                <a:solidFill>
                  <a:srgbClr val="7E182A"/>
                </a:solidFill>
                <a:latin typeface="Arial"/>
                <a:ea typeface="Arial"/>
                <a:cs typeface="Arial"/>
              </a:defRPr>
            </a:pPr>
            <a:r>
              <a:rPr sz="1650" b="1">
                <a:solidFill>
                  <a:srgbClr val="7E182A"/>
                </a:solidFill>
                <a:latin typeface="Arial"/>
                <a:ea typeface="Arial"/>
                <a:cs typeface="Arial"/>
              </a:rPr>
              <a:t>العمل الحالي يربط الواجهات الأمامية بخدمات المنصة ويغطي المسار الأساسي للمشتري.</a:t>
            </a:r>
          </a:p>
        </p:txBody>
      </p:sp>
      <p:sp>
        <p:nvSpPr>
          <p:cNvPr id="22" name="">
            <a:extLst xmlns:a="http://schemas.openxmlformats.org/drawingml/2006/main">
              <a:ext uri="{FF2B5EF4-FFF2-40B4-BE49-F238E27FC236}">
                <a16:creationId xmlns:a16="http://schemas.microsoft.com/office/drawing/2014/main" id="{0A08B472-81F6-4633-B992-E04C8C87B27F}"/>
              </a:ext>
            </a:extLst>
          </p:cNvPr>
          <p:cNvSpPr>
            <a:spLocks xmlns:a="http://schemas.openxmlformats.org/drawingml/2006/main" noGrp="1"/>
          </p:cNvSpPr>
          <p:nvPr/>
        </p:nvSpPr>
        <p:spPr>
          <a:xfrm xmlns:a="http://schemas.openxmlformats.org/drawingml/2006/main">
            <a:off x="685800" y="6381750"/>
            <a:ext cx="1143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5000"/>
          </a:bodyPr>
          <a:lstStyle xmlns:a="http://schemas.openxmlformats.org/drawingml/2006/main"/>
          <a:p xmlns:a="http://schemas.openxmlformats.org/drawingml/2006/main">
            <a:pPr algn="l">
              <a:defRPr sz="1200" b="1">
                <a:solidFill>
                  <a:srgbClr val="786B65"/>
                </a:solidFill>
                <a:latin typeface="Arial"/>
                <a:ea typeface="Arial"/>
                <a:cs typeface="Arial"/>
              </a:defRPr>
            </a:pPr>
            <a:r>
              <a:rPr sz="1200" b="1">
                <a:solidFill>
                  <a:srgbClr val="786B65"/>
                </a:solidFill>
                <a:latin typeface="Arial"/>
                <a:ea typeface="Arial"/>
                <a:cs typeface="Arial"/>
              </a:rPr>
              <a:t>VIORA</a:t>
            </a:r>
          </a:p>
        </p:txBody>
      </p:sp>
      <p:sp>
        <p:nvSpPr>
          <p:cNvPr id="23" name="">
            <a:extLst xmlns:a="http://schemas.openxmlformats.org/drawingml/2006/main">
              <a:ext uri="{FF2B5EF4-FFF2-40B4-BE49-F238E27FC236}">
                <a16:creationId xmlns:a16="http://schemas.microsoft.com/office/drawing/2014/main" id="{A2B5E2CF-3F33-47BD-8042-FB5A4DE26B2D}"/>
              </a:ext>
            </a:extLst>
          </p:cNvPr>
          <p:cNvSpPr>
            <a:spLocks xmlns:a="http://schemas.openxmlformats.org/drawingml/2006/main" noGrp="1"/>
          </p:cNvSpPr>
          <p:nvPr/>
        </p:nvSpPr>
        <p:spPr>
          <a:xfrm xmlns:a="http://schemas.openxmlformats.org/drawingml/2006/main">
            <a:off x="10610850" y="6381750"/>
            <a:ext cx="8953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0000"/>
          </a:bodyPr>
          <a:lstStyle xmlns:a="http://schemas.openxmlformats.org/drawingml/2006/main"/>
          <a:p xmlns:a="http://schemas.openxmlformats.org/drawingml/2006/main">
            <a:pPr algn="r">
              <a:defRPr sz="1125" b="0">
                <a:solidFill>
                  <a:srgbClr val="786B65"/>
                </a:solidFill>
                <a:latin typeface="Arial"/>
                <a:ea typeface="Arial"/>
                <a:cs typeface="Arial"/>
              </a:defRPr>
            </a:pPr>
            <a:r>
              <a:rPr sz="1125" b="0">
                <a:solidFill>
                  <a:srgbClr val="786B65"/>
                </a:solidFill>
                <a:latin typeface="Arial"/>
                <a:ea typeface="Arial"/>
                <a:cs typeface="Arial"/>
              </a:rPr>
              <a:t>05</a:t>
            </a:r>
          </a:p>
        </p:txBody>
      </p:sp>
    </p:spTree>
    <p:extLst>
      <p:ext uri="{BB962C8B-B14F-4D97-AF65-F5344CB8AC3E}">
        <p14:creationId xmlns:p14="http://schemas.microsoft.com/office/powerpoint/2010/main" val="1513050789"/>
      </p:ext>
    </p:extLst>
  </p:cSld>
</p:sld>
</file>

<file path=ppt/slides/slide6.xml><?xml version="1.0" encoding="utf-8"?>
<p:sld xmlns:p="http://schemas.openxmlformats.org/presentationml/2006/main">
  <p:cSld>
    <p:bg>
      <p:bgPr>
        <a:solidFill xmlns:a="http://schemas.openxmlformats.org/drawingml/2006/main">
          <a:srgbClr val="4D0B17"/>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5B65DF5F-FD59-4C1D-9B85-1436501337E3}"/>
              </a:ext>
            </a:extLst>
          </p:cNvPr>
          <p:cNvSpPr>
            <a:spLocks xmlns:a="http://schemas.openxmlformats.org/drawingml/2006/main" noGrp="1"/>
          </p:cNvSpPr>
          <p:nvPr/>
        </p:nvSpPr>
        <p:spPr>
          <a:xfrm xmlns:a="http://schemas.openxmlformats.org/drawingml/2006/main">
            <a:off x="800100" y="647700"/>
            <a:ext cx="105918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r">
              <a:defRPr sz="3150" b="1">
                <a:solidFill>
                  <a:srgbClr val="FFFFFF"/>
                </a:solidFill>
                <a:latin typeface="Arial"/>
                <a:ea typeface="Arial"/>
                <a:cs typeface="Arial"/>
              </a:defRPr>
            </a:pPr>
            <a:r>
              <a:rPr sz="3150" b="1">
                <a:solidFill>
                  <a:srgbClr val="FFFFFF"/>
                </a:solidFill>
                <a:latin typeface="Arial"/>
                <a:ea typeface="Arial"/>
                <a:cs typeface="Arial"/>
              </a:rPr>
              <a:t>الرؤية والخطوة التالية</a:t>
            </a:r>
          </a:p>
        </p:txBody>
      </p:sp>
      <p:sp>
        <p:nvSpPr>
          <p:cNvPr id="2" name="">
            <a:extLst xmlns:a="http://schemas.openxmlformats.org/drawingml/2006/main">
              <a:ext uri="{FF2B5EF4-FFF2-40B4-BE49-F238E27FC236}">
                <a16:creationId xmlns:a16="http://schemas.microsoft.com/office/drawing/2014/main" id="{16B7954C-3A36-448C-8D3C-B66AA80AEEF1}"/>
              </a:ext>
            </a:extLst>
          </p:cNvPr>
          <p:cNvSpPr>
            <a:spLocks xmlns:a="http://schemas.openxmlformats.org/drawingml/2006/main" noGrp="1"/>
          </p:cNvSpPr>
          <p:nvPr/>
        </p:nvSpPr>
        <p:spPr>
          <a:xfrm xmlns:a="http://schemas.openxmlformats.org/drawingml/2006/main">
            <a:off x="800100" y="1371600"/>
            <a:ext cx="10591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r">
              <a:defRPr sz="1800" b="0">
                <a:solidFill>
                  <a:srgbClr val="F0D9D5"/>
                </a:solidFill>
                <a:latin typeface="Arial"/>
                <a:ea typeface="Arial"/>
                <a:cs typeface="Arial"/>
              </a:defRPr>
            </a:pPr>
            <a:r>
              <a:rPr sz="1800" b="0">
                <a:solidFill>
                  <a:srgbClr val="F0D9D5"/>
                </a:solidFill>
                <a:latin typeface="Arial"/>
                <a:ea typeface="Arial"/>
                <a:cs typeface="Arial"/>
              </a:rPr>
              <a:t>نريد أن تصبح فيورا نقطة البداية للتسوق من المتاجر المحلية بثقة ووضوح.</a:t>
            </a:r>
          </a:p>
        </p:txBody>
      </p:sp>
      <p:sp>
        <p:nvSpPr>
          <p:cNvPr id="3" name="">
            <a:extLst xmlns:a="http://schemas.openxmlformats.org/drawingml/2006/main">
              <a:ext uri="{FF2B5EF4-FFF2-40B4-BE49-F238E27FC236}">
                <a16:creationId xmlns:a16="http://schemas.microsoft.com/office/drawing/2014/main" id="{D301E8A8-0B19-438B-BC87-9C1C2AB6B655}"/>
              </a:ext>
            </a:extLst>
          </p:cNvPr>
          <p:cNvSpPr>
            <a:spLocks xmlns:a="http://schemas.openxmlformats.org/drawingml/2006/main" noGrp="1"/>
          </p:cNvSpPr>
          <p:nvPr/>
        </p:nvSpPr>
        <p:spPr>
          <a:xfrm xmlns:a="http://schemas.openxmlformats.org/drawingml/2006/main">
            <a:off x="800100" y="2266950"/>
            <a:ext cx="10591800" cy="19050"/>
          </a:xfrm>
          <a:prstGeom xmlns:a="http://schemas.openxmlformats.org/drawingml/2006/main" prst="rect">
            <a:avLst/>
          </a:prstGeom>
          <a:solidFill xmlns:a="http://schemas.openxmlformats.org/drawingml/2006/main">
            <a:srgbClr val="A44B55"/>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9153FC4E-A288-4C89-8FC0-BCE90BC5FDE2}"/>
              </a:ext>
            </a:extLst>
          </p:cNvPr>
          <p:cNvSpPr>
            <a:spLocks xmlns:a="http://schemas.openxmlformats.org/drawingml/2006/main" noGrp="1"/>
          </p:cNvSpPr>
          <p:nvPr/>
        </p:nvSpPr>
        <p:spPr>
          <a:xfrm xmlns:a="http://schemas.openxmlformats.org/drawingml/2006/main">
            <a:off x="800100" y="2714625"/>
            <a:ext cx="2857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7654"/>
          </a:bodyPr>
          <a:lstStyle xmlns:a="http://schemas.openxmlformats.org/drawingml/2006/main"/>
          <a:p xmlns:a="http://schemas.openxmlformats.org/drawingml/2006/main">
            <a:pPr algn="l">
              <a:defRPr sz="2025" b="1">
                <a:solidFill>
                  <a:srgbClr val="F3C7C4"/>
                </a:solidFill>
                <a:latin typeface="Arial"/>
                <a:ea typeface="Arial"/>
                <a:cs typeface="Arial"/>
              </a:defRPr>
            </a:pPr>
            <a:r>
              <a:rPr sz="2025" b="1">
                <a:solidFill>
                  <a:srgbClr val="F3C7C4"/>
                </a:solidFill>
                <a:latin typeface="Arial"/>
                <a:ea typeface="Arial"/>
                <a:cs typeface="Arial"/>
              </a:rPr>
              <a:t>إطلاق تجريبي</a:t>
            </a:r>
          </a:p>
        </p:txBody>
      </p:sp>
      <p:sp>
        <p:nvSpPr>
          <p:cNvPr id="5" name="">
            <a:extLst xmlns:a="http://schemas.openxmlformats.org/drawingml/2006/main">
              <a:ext uri="{FF2B5EF4-FFF2-40B4-BE49-F238E27FC236}">
                <a16:creationId xmlns:a16="http://schemas.microsoft.com/office/drawing/2014/main" id="{05547D9B-55A9-4A07-8E92-6DD28EF2B9CB}"/>
              </a:ext>
            </a:extLst>
          </p:cNvPr>
          <p:cNvSpPr>
            <a:spLocks xmlns:a="http://schemas.openxmlformats.org/drawingml/2006/main" noGrp="1"/>
          </p:cNvSpPr>
          <p:nvPr/>
        </p:nvSpPr>
        <p:spPr>
          <a:xfrm xmlns:a="http://schemas.openxmlformats.org/drawingml/2006/main">
            <a:off x="800100" y="3238500"/>
            <a:ext cx="2857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725" b="0">
                <a:solidFill>
                  <a:srgbClr val="FFFFFF"/>
                </a:solidFill>
                <a:latin typeface="Arial"/>
                <a:ea typeface="Arial"/>
                <a:cs typeface="Arial"/>
              </a:defRPr>
            </a:pPr>
            <a:r>
              <a:rPr sz="1725" b="0">
                <a:solidFill>
                  <a:srgbClr val="FFFFFF"/>
                </a:solidFill>
                <a:latin typeface="Arial"/>
                <a:ea typeface="Arial"/>
                <a:cs typeface="Arial"/>
              </a:rPr>
              <a:t>ضم مجموعة مختارة من المتاجر</a:t>
            </a:r>
          </a:p>
          <a:p xmlns:a="http://schemas.openxmlformats.org/drawingml/2006/main">
            <a:pPr algn="l">
              <a:defRPr sz="1725" b="0">
                <a:solidFill>
                  <a:srgbClr val="FFFFFF"/>
                </a:solidFill>
                <a:latin typeface="Arial"/>
                <a:ea typeface="Arial"/>
                <a:cs typeface="Arial"/>
              </a:defRPr>
            </a:pPr>
            <a:r>
              <a:rPr sz="1725" b="0">
                <a:solidFill>
                  <a:srgbClr val="FFFFFF"/>
                </a:solidFill>
                <a:latin typeface="Arial"/>
                <a:ea typeface="Arial"/>
                <a:cs typeface="Arial"/>
              </a:rPr>
              <a:t>وقياس رحلة الشراء الفعلية.</a:t>
            </a:r>
          </a:p>
        </p:txBody>
      </p:sp>
      <p:sp>
        <p:nvSpPr>
          <p:cNvPr id="6" name="">
            <a:extLst xmlns:a="http://schemas.openxmlformats.org/drawingml/2006/main">
              <a:ext uri="{FF2B5EF4-FFF2-40B4-BE49-F238E27FC236}">
                <a16:creationId xmlns:a16="http://schemas.microsoft.com/office/drawing/2014/main" id="{914D175A-C6A3-46D8-A72A-F840D926FB04}"/>
              </a:ext>
            </a:extLst>
          </p:cNvPr>
          <p:cNvSpPr>
            <a:spLocks xmlns:a="http://schemas.openxmlformats.org/drawingml/2006/main" noGrp="1"/>
          </p:cNvSpPr>
          <p:nvPr/>
        </p:nvSpPr>
        <p:spPr>
          <a:xfrm xmlns:a="http://schemas.openxmlformats.org/drawingml/2006/main">
            <a:off x="4667250" y="2714625"/>
            <a:ext cx="2857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7654"/>
          </a:bodyPr>
          <a:lstStyle xmlns:a="http://schemas.openxmlformats.org/drawingml/2006/main"/>
          <a:p xmlns:a="http://schemas.openxmlformats.org/drawingml/2006/main">
            <a:pPr algn="l">
              <a:defRPr sz="2025" b="1">
                <a:solidFill>
                  <a:srgbClr val="F3C7C4"/>
                </a:solidFill>
                <a:latin typeface="Arial"/>
                <a:ea typeface="Arial"/>
                <a:cs typeface="Arial"/>
              </a:defRPr>
            </a:pPr>
            <a:r>
              <a:rPr sz="2025" b="1">
                <a:solidFill>
                  <a:srgbClr val="F3C7C4"/>
                </a:solidFill>
                <a:latin typeface="Arial"/>
                <a:ea typeface="Arial"/>
                <a:cs typeface="Arial"/>
              </a:rPr>
              <a:t>تحسين التشغيل</a:t>
            </a:r>
          </a:p>
        </p:txBody>
      </p:sp>
      <p:sp>
        <p:nvSpPr>
          <p:cNvPr id="7" name="">
            <a:extLst xmlns:a="http://schemas.openxmlformats.org/drawingml/2006/main">
              <a:ext uri="{FF2B5EF4-FFF2-40B4-BE49-F238E27FC236}">
                <a16:creationId xmlns:a16="http://schemas.microsoft.com/office/drawing/2014/main" id="{26FA6B24-F053-422F-B3DC-0AF87712841A}"/>
              </a:ext>
            </a:extLst>
          </p:cNvPr>
          <p:cNvSpPr>
            <a:spLocks xmlns:a="http://schemas.openxmlformats.org/drawingml/2006/main" noGrp="1"/>
          </p:cNvSpPr>
          <p:nvPr/>
        </p:nvSpPr>
        <p:spPr>
          <a:xfrm xmlns:a="http://schemas.openxmlformats.org/drawingml/2006/main">
            <a:off x="4667250" y="3238500"/>
            <a:ext cx="2857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725" b="0">
                <a:solidFill>
                  <a:srgbClr val="FFFFFF"/>
                </a:solidFill>
                <a:latin typeface="Arial"/>
                <a:ea typeface="Arial"/>
                <a:cs typeface="Arial"/>
              </a:defRPr>
            </a:pPr>
            <a:r>
              <a:rPr sz="1725" b="0">
                <a:solidFill>
                  <a:srgbClr val="FFFFFF"/>
                </a:solidFill>
                <a:latin typeface="Arial"/>
                <a:ea typeface="Arial"/>
                <a:cs typeface="Arial"/>
              </a:rPr>
              <a:t>تحسين تفاصيل إدارة الطلب</a:t>
            </a:r>
          </a:p>
          <a:p xmlns:a="http://schemas.openxmlformats.org/drawingml/2006/main">
            <a:pPr algn="l">
              <a:defRPr sz="1725" b="0">
                <a:solidFill>
                  <a:srgbClr val="FFFFFF"/>
                </a:solidFill>
                <a:latin typeface="Arial"/>
                <a:ea typeface="Arial"/>
                <a:cs typeface="Arial"/>
              </a:defRPr>
            </a:pPr>
            <a:r>
              <a:rPr sz="1725" b="0">
                <a:solidFill>
                  <a:srgbClr val="FFFFFF"/>
                </a:solidFill>
                <a:latin typeface="Arial"/>
                <a:ea typeface="Arial"/>
                <a:cs typeface="Arial"/>
              </a:rPr>
              <a:t>والتوصيل بناءً على التجربة.</a:t>
            </a:r>
          </a:p>
        </p:txBody>
      </p:sp>
      <p:sp>
        <p:nvSpPr>
          <p:cNvPr id="8" name="">
            <a:extLst xmlns:a="http://schemas.openxmlformats.org/drawingml/2006/main">
              <a:ext uri="{FF2B5EF4-FFF2-40B4-BE49-F238E27FC236}">
                <a16:creationId xmlns:a16="http://schemas.microsoft.com/office/drawing/2014/main" id="{6A95CA40-D576-44DD-B4A5-9E9AC229D43D}"/>
              </a:ext>
            </a:extLst>
          </p:cNvPr>
          <p:cNvSpPr>
            <a:spLocks xmlns:a="http://schemas.openxmlformats.org/drawingml/2006/main" noGrp="1"/>
          </p:cNvSpPr>
          <p:nvPr/>
        </p:nvSpPr>
        <p:spPr>
          <a:xfrm xmlns:a="http://schemas.openxmlformats.org/drawingml/2006/main">
            <a:off x="8534400" y="2714625"/>
            <a:ext cx="2857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7654"/>
          </a:bodyPr>
          <a:lstStyle xmlns:a="http://schemas.openxmlformats.org/drawingml/2006/main"/>
          <a:p xmlns:a="http://schemas.openxmlformats.org/drawingml/2006/main">
            <a:pPr algn="l">
              <a:defRPr sz="2025" b="1">
                <a:solidFill>
                  <a:srgbClr val="F3C7C4"/>
                </a:solidFill>
                <a:latin typeface="Arial"/>
                <a:ea typeface="Arial"/>
                <a:cs typeface="Arial"/>
              </a:defRPr>
            </a:pPr>
            <a:r>
              <a:rPr sz="2025" b="1">
                <a:solidFill>
                  <a:srgbClr val="F3C7C4"/>
                </a:solidFill>
                <a:latin typeface="Arial"/>
                <a:ea typeface="Arial"/>
                <a:cs typeface="Arial"/>
              </a:rPr>
              <a:t>توسع محسوب</a:t>
            </a:r>
          </a:p>
        </p:txBody>
      </p:sp>
      <p:sp>
        <p:nvSpPr>
          <p:cNvPr id="9" name="">
            <a:extLst xmlns:a="http://schemas.openxmlformats.org/drawingml/2006/main">
              <a:ext uri="{FF2B5EF4-FFF2-40B4-BE49-F238E27FC236}">
                <a16:creationId xmlns:a16="http://schemas.microsoft.com/office/drawing/2014/main" id="{94B4C7D7-140F-439B-8140-A2C72CBC8CE6}"/>
              </a:ext>
            </a:extLst>
          </p:cNvPr>
          <p:cNvSpPr>
            <a:spLocks xmlns:a="http://schemas.openxmlformats.org/drawingml/2006/main" noGrp="1"/>
          </p:cNvSpPr>
          <p:nvPr/>
        </p:nvSpPr>
        <p:spPr>
          <a:xfrm xmlns:a="http://schemas.openxmlformats.org/drawingml/2006/main">
            <a:off x="8534400" y="3238500"/>
            <a:ext cx="2857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725" b="0">
                <a:solidFill>
                  <a:srgbClr val="FFFFFF"/>
                </a:solidFill>
                <a:latin typeface="Arial"/>
                <a:ea typeface="Arial"/>
                <a:cs typeface="Arial"/>
              </a:defRPr>
            </a:pPr>
            <a:r>
              <a:rPr sz="1725" b="0">
                <a:solidFill>
                  <a:srgbClr val="FFFFFF"/>
                </a:solidFill>
                <a:latin typeface="Arial"/>
                <a:ea typeface="Arial"/>
                <a:cs typeface="Arial"/>
              </a:rPr>
              <a:t>توسيع المتاجر والتصنيفات</a:t>
            </a:r>
          </a:p>
          <a:p xmlns:a="http://schemas.openxmlformats.org/drawingml/2006/main">
            <a:pPr algn="l">
              <a:defRPr sz="1725" b="0">
                <a:solidFill>
                  <a:srgbClr val="FFFFFF"/>
                </a:solidFill>
                <a:latin typeface="Arial"/>
                <a:ea typeface="Arial"/>
                <a:cs typeface="Arial"/>
              </a:defRPr>
            </a:pPr>
            <a:r>
              <a:rPr sz="1725" b="0">
                <a:solidFill>
                  <a:srgbClr val="FFFFFF"/>
                </a:solidFill>
                <a:latin typeface="Arial"/>
                <a:ea typeface="Arial"/>
                <a:cs typeface="Arial"/>
              </a:rPr>
              <a:t>وتطوير شراكات دفع وتوصيل.</a:t>
            </a:r>
          </a:p>
        </p:txBody>
      </p:sp>
      <p:sp>
        <p:nvSpPr>
          <p:cNvPr id="10" name="">
            <a:extLst xmlns:a="http://schemas.openxmlformats.org/drawingml/2006/main">
              <a:ext uri="{FF2B5EF4-FFF2-40B4-BE49-F238E27FC236}">
                <a16:creationId xmlns:a16="http://schemas.microsoft.com/office/drawing/2014/main" id="{2C1DBDF8-6479-4C63-BCF1-FE51678F84A2}"/>
              </a:ext>
            </a:extLst>
          </p:cNvPr>
          <p:cNvSpPr>
            <a:spLocks xmlns:a="http://schemas.openxmlformats.org/drawingml/2006/main" noGrp="1"/>
          </p:cNvSpPr>
          <p:nvPr/>
        </p:nvSpPr>
        <p:spPr>
          <a:xfrm xmlns:a="http://schemas.openxmlformats.org/drawingml/2006/main">
            <a:off x="800100" y="5191125"/>
            <a:ext cx="105918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r">
              <a:defRPr sz="2175" b="1">
                <a:solidFill>
                  <a:srgbClr val="F6E9E4"/>
                </a:solidFill>
                <a:latin typeface="Arial"/>
                <a:ea typeface="Arial"/>
                <a:cs typeface="Arial"/>
              </a:defRPr>
            </a:pPr>
            <a:r>
              <a:rPr sz="2175" b="1">
                <a:solidFill>
                  <a:srgbClr val="F6E9E4"/>
                </a:solidFill>
                <a:latin typeface="Arial"/>
                <a:ea typeface="Arial"/>
                <a:cs typeface="Arial"/>
              </a:rPr>
              <a:t>فيورا تبدأ من احتياج يومي بسيط، ثم تبني سوقًا محليًا منظمًا حوله.</a:t>
            </a:r>
          </a:p>
        </p:txBody>
      </p:sp>
      <p:sp>
        <p:nvSpPr>
          <p:cNvPr id="11" name="">
            <a:extLst xmlns:a="http://schemas.openxmlformats.org/drawingml/2006/main">
              <a:ext uri="{FF2B5EF4-FFF2-40B4-BE49-F238E27FC236}">
                <a16:creationId xmlns:a16="http://schemas.microsoft.com/office/drawing/2014/main" id="{A7FFCF36-25AC-4A15-9AFA-51BFA021CCB5}"/>
              </a:ext>
            </a:extLst>
          </p:cNvPr>
          <p:cNvSpPr>
            <a:spLocks xmlns:a="http://schemas.openxmlformats.org/drawingml/2006/main" noGrp="1"/>
          </p:cNvSpPr>
          <p:nvPr/>
        </p:nvSpPr>
        <p:spPr>
          <a:xfrm xmlns:a="http://schemas.openxmlformats.org/drawingml/2006/main">
            <a:off x="685800" y="6381750"/>
            <a:ext cx="1143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5000"/>
          </a:bodyPr>
          <a:lstStyle xmlns:a="http://schemas.openxmlformats.org/drawingml/2006/main"/>
          <a:p xmlns:a="http://schemas.openxmlformats.org/drawingml/2006/main">
            <a:pPr algn="l">
              <a:defRPr sz="1200" b="1">
                <a:solidFill>
                  <a:srgbClr val="EED9D4"/>
                </a:solidFill>
                <a:latin typeface="Arial"/>
                <a:ea typeface="Arial"/>
                <a:cs typeface="Arial"/>
              </a:defRPr>
            </a:pPr>
            <a:r>
              <a:rPr sz="1200" b="1">
                <a:solidFill>
                  <a:srgbClr val="EED9D4"/>
                </a:solidFill>
                <a:latin typeface="Arial"/>
                <a:ea typeface="Arial"/>
                <a:cs typeface="Arial"/>
              </a:rPr>
              <a:t>VIORA</a:t>
            </a:r>
          </a:p>
        </p:txBody>
      </p:sp>
      <p:sp>
        <p:nvSpPr>
          <p:cNvPr id="12" name="">
            <a:extLst xmlns:a="http://schemas.openxmlformats.org/drawingml/2006/main">
              <a:ext uri="{FF2B5EF4-FFF2-40B4-BE49-F238E27FC236}">
                <a16:creationId xmlns:a16="http://schemas.microsoft.com/office/drawing/2014/main" id="{9F996B8D-7B35-40D8-A827-768BFB9D4981}"/>
              </a:ext>
            </a:extLst>
          </p:cNvPr>
          <p:cNvSpPr>
            <a:spLocks xmlns:a="http://schemas.openxmlformats.org/drawingml/2006/main" noGrp="1"/>
          </p:cNvSpPr>
          <p:nvPr/>
        </p:nvSpPr>
        <p:spPr>
          <a:xfrm xmlns:a="http://schemas.openxmlformats.org/drawingml/2006/main">
            <a:off x="10610850" y="6381750"/>
            <a:ext cx="8953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0000"/>
          </a:bodyPr>
          <a:lstStyle xmlns:a="http://schemas.openxmlformats.org/drawingml/2006/main"/>
          <a:p xmlns:a="http://schemas.openxmlformats.org/drawingml/2006/main">
            <a:pPr algn="r">
              <a:defRPr sz="1125" b="0">
                <a:solidFill>
                  <a:srgbClr val="EED9D4"/>
                </a:solidFill>
                <a:latin typeface="Arial"/>
                <a:ea typeface="Arial"/>
                <a:cs typeface="Arial"/>
              </a:defRPr>
            </a:pPr>
            <a:r>
              <a:rPr sz="1125" b="0">
                <a:solidFill>
                  <a:srgbClr val="EED9D4"/>
                </a:solidFill>
                <a:latin typeface="Arial"/>
                <a:ea typeface="Arial"/>
                <a:cs typeface="Arial"/>
              </a:rPr>
              <a:t>06</a:t>
            </a:r>
          </a:p>
        </p:txBody>
      </p:sp>
    </p:spTree>
    <p:extLst>
      <p:ext uri="{BB962C8B-B14F-4D97-AF65-F5344CB8AC3E}">
        <p14:creationId xmlns:p14="http://schemas.microsoft.com/office/powerpoint/2010/main" val="206448192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2026-09-21T09:38:29.6850000Z</dcterms:created>
  <dcterms:modified xsi:type="dcterms:W3CDTF">2026-09-21T09:38:29.6850000Z</dcterms:modified>
</coreProperties>
</file>